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79" r:id="rId3"/>
    <p:sldId id="28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1" r:id="rId15"/>
    <p:sldId id="269" r:id="rId16"/>
    <p:sldId id="278" r:id="rId17"/>
    <p:sldId id="27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4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CAC75-8999-4284-BC24-B0057C85060F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C4EBC-9218-42F2-833A-B9010D1A9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563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320A3-CC6B-451E-0E88-48AE587E7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923C2D-870D-3BA9-04D5-C713CFFB8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E7A372-B706-9EB4-20AF-15F91144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609C-1299-4303-8278-C1A153009A8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F6896B-0319-4A42-E787-15EDD602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83E126-808A-EFC4-2CB8-7E218DBC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4BC9-2830-41A7-8912-EBF9AF38A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608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91CEEA-F8F4-E354-6FC2-8DCDA820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A9CCFE-BA68-761B-2D58-C8C925744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EDE2E8-F201-55B9-BD1A-976BE0FCD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609C-1299-4303-8278-C1A153009A8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C543E0-817E-46D5-027B-C782A8AAD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081BD-7E83-B58D-9EAC-850965CA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4BC9-2830-41A7-8912-EBF9AF38A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60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6F0D1-F61D-C131-EB41-0938ECBC9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D7F955-54E4-1E4A-5875-14E782CC9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D05EF4-18D7-0831-A064-280CFC2B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609C-1299-4303-8278-C1A153009A8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6D6254-0B04-A709-F51C-118D327B8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A4974B-5DDF-5D4A-9BD9-EE197F13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4BC9-2830-41A7-8912-EBF9AF38A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54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F5D19-105F-25BB-F619-D18282D78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61CE13-E9AE-5479-FAFB-7CC38F04B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F59CA7-730A-F631-6768-61EEDE678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607D9A-B901-392F-04CE-11660D9C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609C-1299-4303-8278-C1A153009A8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509CC1-7FB2-59DF-13DC-7CEA0345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56EEDD-E5A9-4F6A-F4CF-4F096C74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4BC9-2830-41A7-8912-EBF9AF38A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12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57C79-D91E-D513-0A00-F0665B57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656229-03BE-9044-4EEB-7FFEE2561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A52C7D-1B27-42E4-9928-040A461B4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C1C45E-8446-601A-2ED4-9483C7812A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509D53D-D98E-BB59-4441-88E8B49FB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745E37-AAE0-E50F-EC7B-C7756B41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609C-1299-4303-8278-C1A153009A8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01D4EE-8B91-C6DE-B14E-BFFF09901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B3510A-395A-25EE-260E-6070A0B6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4BC9-2830-41A7-8912-EBF9AF38A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97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44A12-BF22-C955-17D3-78F92877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AAA221-5011-EAF2-F001-ADD37F1B6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609C-1299-4303-8278-C1A153009A8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8B519E-953D-ED4C-3914-F145D476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822C7A-AB72-72D8-D3C2-91CCF06B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4BC9-2830-41A7-8912-EBF9AF38A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89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09F4D5-1AE6-6723-EEBF-F5C01C98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609C-1299-4303-8278-C1A153009A8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A2F83E-2206-D3FA-8E80-136AC76A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7CC0F3-B60B-C7FB-B12D-906278C7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4BC9-2830-41A7-8912-EBF9AF38A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8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34518-E42E-6EFE-A5E3-FCC7C1494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24ED69-3D4B-0816-84A2-5458CABDB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E50F19-CEE6-9303-04CF-8419EE7B6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0D17D2-0A0D-D1AA-F301-9BF8EDFE8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609C-1299-4303-8278-C1A153009A8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4AC211-9464-DC54-0291-B2675A05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66D141-2545-82D3-D5E2-9310C5D93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4BC9-2830-41A7-8912-EBF9AF38A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380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1823F-D9AB-AC53-3CCF-2BB44E942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7478A5-293F-0683-AC60-D5ABEBC6D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CD14C7-ABED-B941-E3E8-F924CBBEA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9AF6CA-46AD-E3EC-CACB-B2E4BA18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609C-1299-4303-8278-C1A153009A8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37C78A-687A-B489-D5FE-3BDCA8F9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BF8642-29AF-AFFA-FBF7-5DB23D355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4BC9-2830-41A7-8912-EBF9AF38A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77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83BE5-BDB6-1ADE-1BAA-D63954ED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831CE0-4641-BE2B-00AF-C122E3175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B8D2CC-F86D-A0CF-8078-0F7C6E10F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609C-1299-4303-8278-C1A153009A8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97AFEA-2F73-B369-BB89-A15AE387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56251-C238-1772-6DA5-C4658236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4BC9-2830-41A7-8912-EBF9AF38A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83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DE2B4F-C0AC-77B5-172E-42F27C3E0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AFEBDA-B747-B792-AA49-3469161F2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EE1ADA-75E0-4EE7-DE25-114C0B41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609C-1299-4303-8278-C1A153009A8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9823F4-53FE-89DC-7B1A-BEC36D28B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D503-DC69-8C7C-5090-747173DC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4BC9-2830-41A7-8912-EBF9AF38A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611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681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510430-B59A-6A11-A696-BB1CA8C43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77F05E-489A-F8CA-5BA2-F03C31F9B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3E8D84-C815-3F66-2214-4399F9866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E609C-1299-4303-8278-C1A153009A8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879888-991D-A7DE-36E2-CC8EA7AA2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0A8B4A-8D29-B022-6167-811C2C598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A4BC9-2830-41A7-8912-EBF9AF38A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499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sciencedirect.com/topics/computer-science/rational-unified-proces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09:55-d1oe5stcmrb5eq9iq9v0.jpg"/>
          <p:cNvPicPr>
            <a:picLocks noChangeAspect="1"/>
          </p:cNvPicPr>
          <p:nvPr/>
        </p:nvPicPr>
        <p:blipFill>
          <a:blip r:embed="rId3"/>
          <a:srcRect t="83" b="8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7-11-18:09:52-d1oe5s5cmrb5eq9iq9l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" y="3660726"/>
            <a:ext cx="4963160" cy="332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ru-RU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Сюй Хаоюй</a:t>
            </a:r>
            <a:endParaRPr lang="en-US" altLang="zh-CN" sz="1600" dirty="0"/>
          </a:p>
        </p:txBody>
      </p:sp>
      <p:sp>
        <p:nvSpPr>
          <p:cNvPr id="6" name="Text 2"/>
          <p:cNvSpPr/>
          <p:nvPr/>
        </p:nvSpPr>
        <p:spPr>
          <a:xfrm>
            <a:off x="7240270" y="6099810"/>
            <a:ext cx="3091815" cy="221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lang="ru-RU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ИУ5И-32М</a:t>
            </a:r>
            <a:endParaRPr lang="en-US" alt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626745" y="2000250"/>
            <a:ext cx="9340821" cy="677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RUP как программный продукт</a:t>
            </a:r>
            <a:endParaRPr lang="en-US" sz="1600" dirty="0"/>
          </a:p>
        </p:txBody>
      </p:sp>
      <p:pic>
        <p:nvPicPr>
          <p:cNvPr id="15" name="Image 2" descr="https://test-kimi-img.moonshot.cn/pub/slides/slides_tmpl/image/25-07-11-18:09:52-d1oe5s5cmrb5eq9iq9l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test-kimi-img.moonshot.cn/pub/slides/slides_tmpl/image/25-07-11-18:09:53-d1oe5sdcmrb5eq9iq9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067" y="1978584"/>
            <a:ext cx="4456323" cy="3742690"/>
          </a:xfrm>
          <a:prstGeom prst="rect">
            <a:avLst/>
          </a:prstGeom>
        </p:spPr>
      </p:pic>
      <p:pic>
        <p:nvPicPr>
          <p:cNvPr id="4" name="Image 2" descr="https://test-kimi-img.moonshot.cn/pub/slides/slides_tmpl/image/25-07-11-18:09:53-d1oe5sdcmrb5eq9iq9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775" y="1913865"/>
            <a:ext cx="4408147" cy="37426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1020" y="532130"/>
            <a:ext cx="10479405" cy="741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50" charset="-122"/>
                <a:ea typeface="MiSans" pitchFamily="50" charset="-122"/>
                <a:cs typeface="MiSans" pitchFamily="50" charset="-122"/>
              </a:rPr>
              <a:t>Rational Unified Process(RUP) </a:t>
            </a: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6" name="Text 1"/>
          <p:cNvSpPr/>
          <p:nvPr/>
        </p:nvSpPr>
        <p:spPr>
          <a:xfrm>
            <a:off x="7221557" y="2878379"/>
            <a:ext cx="3894461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Основные характеристики RUP включают итерационную разработку, управление требованиями, визуальное моделирование с использованием UML и управление изменениями. Эти принципы обеспечивают гибкость и стабильность процесса разработки.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7405930" y="2297663"/>
            <a:ext cx="3525714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Ключевые характеристики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677586" y="2790800"/>
            <a:ext cx="3996101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Rational Unified Process (RUP) — это методология разработки программного обеспечения, разработанная компанией IBM Rational. Она представляет собой итеративный, адаптивный и архитектурно-центрированный подход, который позволяет командам эффективно управлять сложными проектами.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197003" y="2150102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Определение RUP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09:52-d1oe5s5cmrb5eq9iq9l0.jpg"/>
          <p:cNvPicPr>
            <a:picLocks noChangeAspect="1"/>
          </p:cNvPicPr>
          <p:nvPr/>
        </p:nvPicPr>
        <p:blipFill>
          <a:blip r:embed="rId3"/>
          <a:srcRect l="39072" r="39072"/>
          <a:stretch/>
        </p:blipFill>
        <p:spPr>
          <a:xfrm>
            <a:off x="9038590" y="2217420"/>
            <a:ext cx="2792095" cy="415163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7-11-18:09:52-d1oe5s5cmrb5eq9iq9m0.jpg"/>
          <p:cNvPicPr>
            <a:picLocks noChangeAspect="1"/>
          </p:cNvPicPr>
          <p:nvPr/>
        </p:nvPicPr>
        <p:blipFill>
          <a:blip r:embed="rId4"/>
          <a:srcRect l="41052" r="41052"/>
          <a:stretch/>
        </p:blipFill>
        <p:spPr>
          <a:xfrm>
            <a:off x="6208395" y="1775460"/>
            <a:ext cx="2792095" cy="4151630"/>
          </a:xfrm>
          <a:prstGeom prst="rect">
            <a:avLst/>
          </a:prstGeom>
        </p:spPr>
      </p:pic>
      <p:pic>
        <p:nvPicPr>
          <p:cNvPr id="4" name="Image 2" descr="https://test-kimi-img.moonshot.cn/pub/slides/slides_tmpl/image/25-07-11-18:09:52-d1oe5s5cmrb5eq9iq9l0.jpg"/>
          <p:cNvPicPr>
            <a:picLocks noChangeAspect="1"/>
          </p:cNvPicPr>
          <p:nvPr/>
        </p:nvPicPr>
        <p:blipFill>
          <a:blip r:embed="rId3"/>
          <a:srcRect l="39072" r="39072"/>
          <a:stretch/>
        </p:blipFill>
        <p:spPr>
          <a:xfrm>
            <a:off x="3331210" y="2214245"/>
            <a:ext cx="2792095" cy="4151630"/>
          </a:xfrm>
          <a:prstGeom prst="rect">
            <a:avLst/>
          </a:prstGeom>
        </p:spPr>
      </p:pic>
      <p:pic>
        <p:nvPicPr>
          <p:cNvPr id="5" name="Image 3" descr="https://test-kimi-img.moonshot.cn/pub/slides/slides_tmpl/image/25-07-11-18:09:52-d1oe5s5cmrb5eq9iq9m0.jpg"/>
          <p:cNvPicPr>
            <a:picLocks noChangeAspect="1"/>
          </p:cNvPicPr>
          <p:nvPr/>
        </p:nvPicPr>
        <p:blipFill>
          <a:blip r:embed="rId4"/>
          <a:srcRect l="41052" r="41052"/>
          <a:stretch/>
        </p:blipFill>
        <p:spPr>
          <a:xfrm>
            <a:off x="459740" y="1775460"/>
            <a:ext cx="2792095" cy="415163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56298" y="535305"/>
            <a:ext cx="10479405" cy="741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50" charset="-122"/>
                <a:ea typeface="MiSans" pitchFamily="50" charset="-122"/>
                <a:cs typeface="MiSans" pitchFamily="50" charset="-122"/>
              </a:rPr>
              <a:t>Основные принципы RUP</a:t>
            </a: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7" name="Text 1"/>
          <p:cNvSpPr/>
          <p:nvPr/>
        </p:nvSpPr>
        <p:spPr>
          <a:xfrm>
            <a:off x="582295" y="2214245"/>
            <a:ext cx="24771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439E1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Итерационная разработка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611505" y="2829560"/>
            <a:ext cx="246189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Проект разделяется на короткие итерации, каждая из которых завершается готовым инкрементом продукта. Этот подход позволяет рано получать обратную связь и адаптироваться к изменениям требований.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3442970" y="2655570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Управление требованиями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3510280" y="3270885"/>
            <a:ext cx="246189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Требования структурируются, приоритизируются и прослеживаются от бизнес-целей до кода. Это обеспечивает прозрачность процесса и упрощает управление изменениями.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6323330" y="2200910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439E1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Визуальное моделирование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6390640" y="2816225"/>
            <a:ext cx="246189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Используется UML для визуального моделирования архитектуры и поведения системы. Модели служат живой документацией и упрощают передачу знаний между участниками проекта.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9116695" y="2704465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Управление изменениями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9184005" y="3319780"/>
            <a:ext cx="2461895" cy="298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Любые изменения в требованиях, коде или архитектуре проходят через формализованный процесс, что обеспечивает стабильность и согласованность всех артефактов.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44386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443865" y="160528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445135" y="156019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01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3319780" y="203454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3319780" y="203454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3321050" y="19894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02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620839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208395" y="160528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209665" y="156019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03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9024620" y="2079625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9024620" y="2079625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9025890" y="20345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50" charset="-122"/>
                <a:cs typeface="Times New Roman" panose="02020603050405020304" pitchFamily="18" charset="0"/>
              </a:rPr>
              <a:t>04</a:t>
            </a: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MiSans" pitchFamily="50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RUP в веб-интерфейсе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0400" y="1270000"/>
            <a:ext cx="1130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RUP как веб-сервер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60400" y="1981200"/>
            <a:ext cx="86487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Rational Unified Process представлен в виде веб-сервера, что позволяет командам получать доступ к методологии, шаблонам и примерам через браузер без установки клиентского ПО.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60400" y="3454400"/>
            <a:ext cx="3416300" cy="2133600"/>
          </a:xfrm>
          <a:custGeom>
            <a:avLst/>
            <a:gdLst/>
            <a:ahLst/>
            <a:cxnLst/>
            <a:rect l="l" t="t" r="r" b="b"/>
            <a:pathLst>
              <a:path w="3416300" h="2133600">
                <a:moveTo>
                  <a:pt x="101602" y="0"/>
                </a:moveTo>
                <a:lnTo>
                  <a:pt x="3314698" y="0"/>
                </a:lnTo>
                <a:cubicBezTo>
                  <a:pt x="3370811" y="0"/>
                  <a:pt x="3416300" y="45489"/>
                  <a:pt x="3416300" y="101602"/>
                </a:cubicBezTo>
                <a:lnTo>
                  <a:pt x="3416300" y="2031998"/>
                </a:lnTo>
                <a:cubicBezTo>
                  <a:pt x="3416300" y="2088111"/>
                  <a:pt x="3370811" y="2133600"/>
                  <a:pt x="33146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938213" y="36576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119063"/>
                </a:lnTo>
                <a:cubicBezTo>
                  <a:pt x="0" y="145331"/>
                  <a:pt x="21357" y="166688"/>
                  <a:pt x="47625" y="166688"/>
                </a:cubicBezTo>
                <a:lnTo>
                  <a:pt x="285750" y="166688"/>
                </a:lnTo>
                <a:cubicBezTo>
                  <a:pt x="312018" y="166688"/>
                  <a:pt x="333375" y="145331"/>
                  <a:pt x="333375" y="119063"/>
                </a:cubicBezTo>
                <a:lnTo>
                  <a:pt x="333375" y="71438"/>
                </a:lnTo>
                <a:cubicBezTo>
                  <a:pt x="333375" y="45169"/>
                  <a:pt x="312018" y="23812"/>
                  <a:pt x="285750" y="23812"/>
                </a:cubicBezTo>
                <a:lnTo>
                  <a:pt x="47625" y="23812"/>
                </a:lnTo>
                <a:close/>
                <a:moveTo>
                  <a:pt x="208359" y="77391"/>
                </a:moveTo>
                <a:cubicBezTo>
                  <a:pt x="218216" y="77391"/>
                  <a:pt x="226219" y="85393"/>
                  <a:pt x="226219" y="95250"/>
                </a:cubicBezTo>
                <a:cubicBezTo>
                  <a:pt x="226219" y="105107"/>
                  <a:pt x="218216" y="113109"/>
                  <a:pt x="208359" y="113109"/>
                </a:cubicBezTo>
                <a:cubicBezTo>
                  <a:pt x="198503" y="113109"/>
                  <a:pt x="190500" y="105107"/>
                  <a:pt x="190500" y="95250"/>
                </a:cubicBezTo>
                <a:cubicBezTo>
                  <a:pt x="190500" y="85393"/>
                  <a:pt x="198503" y="77391"/>
                  <a:pt x="208359" y="77391"/>
                </a:cubicBezTo>
                <a:close/>
                <a:moveTo>
                  <a:pt x="250031" y="95250"/>
                </a:moveTo>
                <a:cubicBezTo>
                  <a:pt x="250031" y="85393"/>
                  <a:pt x="258034" y="77391"/>
                  <a:pt x="267891" y="77391"/>
                </a:cubicBezTo>
                <a:cubicBezTo>
                  <a:pt x="277747" y="77391"/>
                  <a:pt x="285750" y="85393"/>
                  <a:pt x="285750" y="95250"/>
                </a:cubicBezTo>
                <a:cubicBezTo>
                  <a:pt x="285750" y="105107"/>
                  <a:pt x="277747" y="113109"/>
                  <a:pt x="267891" y="113109"/>
                </a:cubicBezTo>
                <a:cubicBezTo>
                  <a:pt x="258034" y="113109"/>
                  <a:pt x="250031" y="105107"/>
                  <a:pt x="250031" y="95250"/>
                </a:cubicBezTo>
                <a:close/>
                <a:moveTo>
                  <a:pt x="47625" y="214313"/>
                </a:moveTo>
                <a:cubicBezTo>
                  <a:pt x="21357" y="214313"/>
                  <a:pt x="0" y="235669"/>
                  <a:pt x="0" y="2619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261938"/>
                </a:lnTo>
                <a:cubicBezTo>
                  <a:pt x="333375" y="235669"/>
                  <a:pt x="312018" y="214313"/>
                  <a:pt x="285750" y="214313"/>
                </a:cubicBezTo>
                <a:lnTo>
                  <a:pt x="47625" y="214313"/>
                </a:lnTo>
                <a:close/>
                <a:moveTo>
                  <a:pt x="208359" y="267891"/>
                </a:moveTo>
                <a:cubicBezTo>
                  <a:pt x="218216" y="267891"/>
                  <a:pt x="226219" y="275893"/>
                  <a:pt x="226219" y="285750"/>
                </a:cubicBezTo>
                <a:cubicBezTo>
                  <a:pt x="226219" y="295607"/>
                  <a:pt x="218216" y="303609"/>
                  <a:pt x="208359" y="303609"/>
                </a:cubicBezTo>
                <a:cubicBezTo>
                  <a:pt x="198503" y="303609"/>
                  <a:pt x="190500" y="295607"/>
                  <a:pt x="190500" y="285750"/>
                </a:cubicBezTo>
                <a:cubicBezTo>
                  <a:pt x="190500" y="275893"/>
                  <a:pt x="198503" y="267891"/>
                  <a:pt x="208359" y="267891"/>
                </a:cubicBezTo>
                <a:close/>
                <a:moveTo>
                  <a:pt x="250031" y="285750"/>
                </a:moveTo>
                <a:cubicBezTo>
                  <a:pt x="250031" y="275893"/>
                  <a:pt x="258034" y="267891"/>
                  <a:pt x="267891" y="267891"/>
                </a:cubicBezTo>
                <a:cubicBezTo>
                  <a:pt x="277747" y="267891"/>
                  <a:pt x="285750" y="275893"/>
                  <a:pt x="285750" y="285750"/>
                </a:cubicBezTo>
                <a:cubicBezTo>
                  <a:pt x="285750" y="295607"/>
                  <a:pt x="277747" y="303609"/>
                  <a:pt x="267891" y="303609"/>
                </a:cubicBezTo>
                <a:cubicBezTo>
                  <a:pt x="258034" y="303609"/>
                  <a:pt x="250031" y="295607"/>
                  <a:pt x="250031" y="285750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7" name="Text 4"/>
          <p:cNvSpPr/>
          <p:nvPr/>
        </p:nvSpPr>
        <p:spPr>
          <a:xfrm>
            <a:off x="1543050" y="3657600"/>
            <a:ext cx="24511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Централизованное обновление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43050" y="4368800"/>
            <a:ext cx="24257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Единое хранилище артефактов и совместная работа распределённых участников.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85667" y="3454400"/>
            <a:ext cx="3416300" cy="2133600"/>
          </a:xfrm>
          <a:custGeom>
            <a:avLst/>
            <a:gdLst/>
            <a:ahLst/>
            <a:cxnLst/>
            <a:rect l="l" t="t" r="r" b="b"/>
            <a:pathLst>
              <a:path w="3416300" h="2133600">
                <a:moveTo>
                  <a:pt x="101602" y="0"/>
                </a:moveTo>
                <a:lnTo>
                  <a:pt x="3314698" y="0"/>
                </a:lnTo>
                <a:cubicBezTo>
                  <a:pt x="3370811" y="0"/>
                  <a:pt x="3416300" y="45489"/>
                  <a:pt x="3416300" y="101602"/>
                </a:cubicBezTo>
                <a:lnTo>
                  <a:pt x="3416300" y="2031998"/>
                </a:lnTo>
                <a:cubicBezTo>
                  <a:pt x="3416300" y="2088111"/>
                  <a:pt x="3370811" y="2133600"/>
                  <a:pt x="33146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592042" y="36576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11" name="Text 8"/>
          <p:cNvSpPr/>
          <p:nvPr/>
        </p:nvSpPr>
        <p:spPr>
          <a:xfrm>
            <a:off x="5268317" y="3657600"/>
            <a:ext cx="24511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Упрощение развёртывания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68317" y="4368800"/>
            <a:ext cx="24257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Снижение затрат на сопровождение и интеграция с другими инструментами Rational.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10934" y="3454400"/>
            <a:ext cx="3416300" cy="2133600"/>
          </a:xfrm>
          <a:custGeom>
            <a:avLst/>
            <a:gdLst/>
            <a:ahLst/>
            <a:cxnLst/>
            <a:rect l="l" t="t" r="r" b="b"/>
            <a:pathLst>
              <a:path w="3416300" h="2133600">
                <a:moveTo>
                  <a:pt x="101602" y="0"/>
                </a:moveTo>
                <a:lnTo>
                  <a:pt x="3314698" y="0"/>
                </a:lnTo>
                <a:cubicBezTo>
                  <a:pt x="3370811" y="0"/>
                  <a:pt x="3416300" y="45489"/>
                  <a:pt x="3416300" y="101602"/>
                </a:cubicBezTo>
                <a:lnTo>
                  <a:pt x="3416300" y="2031998"/>
                </a:lnTo>
                <a:cubicBezTo>
                  <a:pt x="3416300" y="2088111"/>
                  <a:pt x="3370811" y="2133600"/>
                  <a:pt x="33146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364934" y="3657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15" name="Text 12"/>
          <p:cNvSpPr/>
          <p:nvPr/>
        </p:nvSpPr>
        <p:spPr>
          <a:xfrm>
            <a:off x="8993584" y="3657600"/>
            <a:ext cx="24511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Формирование среды разработки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993584" y="4368800"/>
            <a:ext cx="24257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Создание полноценной среды для эффективной разработки программного обеспечения.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Функциональные подсистемы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0181" y="675875"/>
            <a:ext cx="108823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RMC: Адаптация и настройка процесса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39278" y="1955165"/>
            <a:ext cx="993330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Rational Method Composer позволяет организациям адаптировать стандартный RUP под свои нужды, создавать собственные метод-репозитории и публиковать корпоративные методики в вебе.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3284" y="416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77788" y="0"/>
                </a:moveTo>
                <a:cubicBezTo>
                  <a:pt x="90046" y="0"/>
                  <a:pt x="100013" y="7466"/>
                  <a:pt x="100013" y="16669"/>
                </a:cubicBezTo>
                <a:cubicBezTo>
                  <a:pt x="100013" y="20280"/>
                  <a:pt x="98485" y="23614"/>
                  <a:pt x="95845" y="26357"/>
                </a:cubicBezTo>
                <a:cubicBezTo>
                  <a:pt x="93553" y="28754"/>
                  <a:pt x="91678" y="31671"/>
                  <a:pt x="91678" y="35004"/>
                </a:cubicBezTo>
                <a:cubicBezTo>
                  <a:pt x="91678" y="40213"/>
                  <a:pt x="95915" y="44450"/>
                  <a:pt x="101124" y="44450"/>
                </a:cubicBezTo>
                <a:lnTo>
                  <a:pt x="116681" y="44450"/>
                </a:lnTo>
                <a:cubicBezTo>
                  <a:pt x="125884" y="44450"/>
                  <a:pt x="133350" y="51916"/>
                  <a:pt x="133350" y="61119"/>
                </a:cubicBezTo>
                <a:lnTo>
                  <a:pt x="133350" y="76676"/>
                </a:lnTo>
                <a:cubicBezTo>
                  <a:pt x="133350" y="81885"/>
                  <a:pt x="137587" y="86122"/>
                  <a:pt x="142796" y="86122"/>
                </a:cubicBezTo>
                <a:cubicBezTo>
                  <a:pt x="146095" y="86122"/>
                  <a:pt x="149046" y="84247"/>
                  <a:pt x="151443" y="81955"/>
                </a:cubicBezTo>
                <a:cubicBezTo>
                  <a:pt x="154186" y="79350"/>
                  <a:pt x="157520" y="77788"/>
                  <a:pt x="161131" y="77788"/>
                </a:cubicBezTo>
                <a:cubicBezTo>
                  <a:pt x="170334" y="77788"/>
                  <a:pt x="177800" y="87754"/>
                  <a:pt x="177800" y="100013"/>
                </a:cubicBezTo>
                <a:cubicBezTo>
                  <a:pt x="177800" y="112271"/>
                  <a:pt x="170334" y="122238"/>
                  <a:pt x="161131" y="122238"/>
                </a:cubicBezTo>
                <a:cubicBezTo>
                  <a:pt x="157520" y="122238"/>
                  <a:pt x="154151" y="120710"/>
                  <a:pt x="151443" y="118070"/>
                </a:cubicBezTo>
                <a:cubicBezTo>
                  <a:pt x="149046" y="115778"/>
                  <a:pt x="146129" y="113903"/>
                  <a:pt x="142796" y="113903"/>
                </a:cubicBezTo>
                <a:cubicBezTo>
                  <a:pt x="137587" y="113903"/>
                  <a:pt x="133350" y="118140"/>
                  <a:pt x="133350" y="123349"/>
                </a:cubicBezTo>
                <a:lnTo>
                  <a:pt x="133350" y="161131"/>
                </a:lnTo>
                <a:cubicBezTo>
                  <a:pt x="133350" y="170334"/>
                  <a:pt x="125884" y="177800"/>
                  <a:pt x="116681" y="177800"/>
                </a:cubicBezTo>
                <a:lnTo>
                  <a:pt x="96957" y="177800"/>
                </a:lnTo>
                <a:cubicBezTo>
                  <a:pt x="92512" y="177800"/>
                  <a:pt x="88900" y="174188"/>
                  <a:pt x="88900" y="169743"/>
                </a:cubicBezTo>
                <a:cubicBezTo>
                  <a:pt x="88900" y="166549"/>
                  <a:pt x="90914" y="163736"/>
                  <a:pt x="93484" y="161826"/>
                </a:cubicBezTo>
                <a:cubicBezTo>
                  <a:pt x="97512" y="158805"/>
                  <a:pt x="100013" y="154637"/>
                  <a:pt x="100013" y="150019"/>
                </a:cubicBezTo>
                <a:cubicBezTo>
                  <a:pt x="100013" y="140816"/>
                  <a:pt x="90046" y="133350"/>
                  <a:pt x="77788" y="133350"/>
                </a:cubicBezTo>
                <a:cubicBezTo>
                  <a:pt x="65529" y="133350"/>
                  <a:pt x="55563" y="140816"/>
                  <a:pt x="55563" y="150019"/>
                </a:cubicBezTo>
                <a:cubicBezTo>
                  <a:pt x="55563" y="154637"/>
                  <a:pt x="58063" y="158805"/>
                  <a:pt x="62091" y="161826"/>
                </a:cubicBezTo>
                <a:cubicBezTo>
                  <a:pt x="64661" y="163736"/>
                  <a:pt x="66675" y="166514"/>
                  <a:pt x="66675" y="169743"/>
                </a:cubicBezTo>
                <a:cubicBezTo>
                  <a:pt x="66675" y="174188"/>
                  <a:pt x="63063" y="177800"/>
                  <a:pt x="58618" y="177800"/>
                </a:cubicBezTo>
                <a:lnTo>
                  <a:pt x="16669" y="177800"/>
                </a:lnTo>
                <a:cubicBezTo>
                  <a:pt x="7466" y="177800"/>
                  <a:pt x="0" y="170334"/>
                  <a:pt x="0" y="161131"/>
                </a:cubicBezTo>
                <a:lnTo>
                  <a:pt x="0" y="119182"/>
                </a:lnTo>
                <a:cubicBezTo>
                  <a:pt x="0" y="114737"/>
                  <a:pt x="3612" y="111125"/>
                  <a:pt x="8057" y="111125"/>
                </a:cubicBezTo>
                <a:cubicBezTo>
                  <a:pt x="11251" y="111125"/>
                  <a:pt x="14064" y="113139"/>
                  <a:pt x="15974" y="115709"/>
                </a:cubicBezTo>
                <a:cubicBezTo>
                  <a:pt x="18995" y="119737"/>
                  <a:pt x="23163" y="122238"/>
                  <a:pt x="27781" y="122238"/>
                </a:cubicBezTo>
                <a:cubicBezTo>
                  <a:pt x="36984" y="122238"/>
                  <a:pt x="44450" y="112271"/>
                  <a:pt x="44450" y="100013"/>
                </a:cubicBezTo>
                <a:cubicBezTo>
                  <a:pt x="44450" y="87754"/>
                  <a:pt x="36984" y="77788"/>
                  <a:pt x="27781" y="77788"/>
                </a:cubicBezTo>
                <a:cubicBezTo>
                  <a:pt x="23163" y="77788"/>
                  <a:pt x="18995" y="80288"/>
                  <a:pt x="15974" y="84316"/>
                </a:cubicBezTo>
                <a:cubicBezTo>
                  <a:pt x="14064" y="86886"/>
                  <a:pt x="11286" y="88900"/>
                  <a:pt x="8057" y="88900"/>
                </a:cubicBezTo>
                <a:cubicBezTo>
                  <a:pt x="3612" y="88900"/>
                  <a:pt x="0" y="85288"/>
                  <a:pt x="0" y="80843"/>
                </a:cubicBezTo>
                <a:lnTo>
                  <a:pt x="0" y="61119"/>
                </a:lnTo>
                <a:cubicBezTo>
                  <a:pt x="0" y="51916"/>
                  <a:pt x="7466" y="44450"/>
                  <a:pt x="16669" y="44450"/>
                </a:cubicBezTo>
                <a:lnTo>
                  <a:pt x="54451" y="44450"/>
                </a:lnTo>
                <a:cubicBezTo>
                  <a:pt x="59660" y="44450"/>
                  <a:pt x="63897" y="40213"/>
                  <a:pt x="63897" y="35004"/>
                </a:cubicBezTo>
                <a:cubicBezTo>
                  <a:pt x="63897" y="31705"/>
                  <a:pt x="62022" y="28754"/>
                  <a:pt x="59730" y="26357"/>
                </a:cubicBezTo>
                <a:cubicBezTo>
                  <a:pt x="57125" y="23614"/>
                  <a:pt x="55563" y="20280"/>
                  <a:pt x="55563" y="16669"/>
                </a:cubicBezTo>
                <a:cubicBezTo>
                  <a:pt x="55563" y="7466"/>
                  <a:pt x="65529" y="0"/>
                  <a:pt x="77788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6" name="Text 3"/>
          <p:cNvSpPr/>
          <p:nvPr/>
        </p:nvSpPr>
        <p:spPr>
          <a:xfrm>
            <a:off x="1349636" y="4000500"/>
            <a:ext cx="638924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Компонентная структура процессов для повторного использания.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1697" y="4826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49069"/>
                </a:moveTo>
                <a:lnTo>
                  <a:pt x="88900" y="156478"/>
                </a:lnTo>
                <a:lnTo>
                  <a:pt x="89074" y="156408"/>
                </a:lnTo>
                <a:cubicBezTo>
                  <a:pt x="108034" y="148526"/>
                  <a:pt x="128384" y="144463"/>
                  <a:pt x="148908" y="144463"/>
                </a:cubicBezTo>
                <a:lnTo>
                  <a:pt x="155575" y="144463"/>
                </a:lnTo>
                <a:lnTo>
                  <a:pt x="155575" y="33337"/>
                </a:lnTo>
                <a:lnTo>
                  <a:pt x="148908" y="33337"/>
                </a:lnTo>
                <a:cubicBezTo>
                  <a:pt x="134253" y="33337"/>
                  <a:pt x="119702" y="36255"/>
                  <a:pt x="106159" y="41880"/>
                </a:cubicBezTo>
                <a:cubicBezTo>
                  <a:pt x="100325" y="44311"/>
                  <a:pt x="94560" y="46707"/>
                  <a:pt x="88900" y="49069"/>
                </a:cubicBezTo>
                <a:close/>
                <a:moveTo>
                  <a:pt x="80184" y="21357"/>
                </a:moveTo>
                <a:lnTo>
                  <a:pt x="88900" y="25003"/>
                </a:lnTo>
                <a:lnTo>
                  <a:pt x="97616" y="21357"/>
                </a:lnTo>
                <a:cubicBezTo>
                  <a:pt x="113868" y="14585"/>
                  <a:pt x="131301" y="11112"/>
                  <a:pt x="148908" y="11112"/>
                </a:cubicBezTo>
                <a:lnTo>
                  <a:pt x="161131" y="11112"/>
                </a:lnTo>
                <a:cubicBezTo>
                  <a:pt x="170334" y="11112"/>
                  <a:pt x="177800" y="18579"/>
                  <a:pt x="177800" y="27781"/>
                </a:cubicBezTo>
                <a:lnTo>
                  <a:pt x="177800" y="150019"/>
                </a:lnTo>
                <a:cubicBezTo>
                  <a:pt x="177800" y="159221"/>
                  <a:pt x="170334" y="166688"/>
                  <a:pt x="161131" y="166688"/>
                </a:cubicBezTo>
                <a:lnTo>
                  <a:pt x="148908" y="166688"/>
                </a:lnTo>
                <a:cubicBezTo>
                  <a:pt x="131301" y="166688"/>
                  <a:pt x="113868" y="170160"/>
                  <a:pt x="97616" y="176932"/>
                </a:cubicBezTo>
                <a:lnTo>
                  <a:pt x="93171" y="178772"/>
                </a:lnTo>
                <a:cubicBezTo>
                  <a:pt x="90428" y="179918"/>
                  <a:pt x="87372" y="179918"/>
                  <a:pt x="84629" y="178772"/>
                </a:cubicBezTo>
                <a:lnTo>
                  <a:pt x="80184" y="176932"/>
                </a:lnTo>
                <a:cubicBezTo>
                  <a:pt x="63932" y="170160"/>
                  <a:pt x="46499" y="166688"/>
                  <a:pt x="28893" y="166688"/>
                </a:cubicBezTo>
                <a:lnTo>
                  <a:pt x="16669" y="166688"/>
                </a:lnTo>
                <a:cubicBezTo>
                  <a:pt x="7466" y="166688"/>
                  <a:pt x="0" y="159221"/>
                  <a:pt x="0" y="150019"/>
                </a:cubicBezTo>
                <a:lnTo>
                  <a:pt x="0" y="27781"/>
                </a:lnTo>
                <a:cubicBezTo>
                  <a:pt x="0" y="18579"/>
                  <a:pt x="7466" y="11112"/>
                  <a:pt x="16669" y="11112"/>
                </a:cubicBezTo>
                <a:lnTo>
                  <a:pt x="28893" y="11112"/>
                </a:lnTo>
                <a:cubicBezTo>
                  <a:pt x="46499" y="11112"/>
                  <a:pt x="63932" y="14585"/>
                  <a:pt x="80184" y="21357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8" name="Text 5"/>
          <p:cNvSpPr/>
          <p:nvPr/>
        </p:nvSpPr>
        <p:spPr>
          <a:xfrm>
            <a:off x="1346262" y="4660900"/>
            <a:ext cx="595661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Персонализированный процессный портал для новых участников.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39279" y="54864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86782" y="23197"/>
                </a:moveTo>
                <a:cubicBezTo>
                  <a:pt x="90393" y="18231"/>
                  <a:pt x="89282" y="11286"/>
                  <a:pt x="84316" y="7675"/>
                </a:cubicBezTo>
                <a:cubicBezTo>
                  <a:pt x="79350" y="4063"/>
                  <a:pt x="72405" y="5174"/>
                  <a:pt x="68793" y="10140"/>
                </a:cubicBezTo>
                <a:lnTo>
                  <a:pt x="31983" y="60737"/>
                </a:lnTo>
                <a:lnTo>
                  <a:pt x="18961" y="47714"/>
                </a:lnTo>
                <a:cubicBezTo>
                  <a:pt x="14620" y="43373"/>
                  <a:pt x="7570" y="43373"/>
                  <a:pt x="3230" y="47714"/>
                </a:cubicBezTo>
                <a:cubicBezTo>
                  <a:pt x="-1111" y="52055"/>
                  <a:pt x="-1111" y="59105"/>
                  <a:pt x="3230" y="63445"/>
                </a:cubicBezTo>
                <a:lnTo>
                  <a:pt x="25455" y="85670"/>
                </a:lnTo>
                <a:cubicBezTo>
                  <a:pt x="27747" y="87962"/>
                  <a:pt x="30941" y="89143"/>
                  <a:pt x="34171" y="88900"/>
                </a:cubicBezTo>
                <a:cubicBezTo>
                  <a:pt x="37401" y="88657"/>
                  <a:pt x="40387" y="86990"/>
                  <a:pt x="42297" y="84351"/>
                </a:cubicBezTo>
                <a:lnTo>
                  <a:pt x="86747" y="23232"/>
                </a:lnTo>
                <a:close/>
                <a:moveTo>
                  <a:pt x="131232" y="70425"/>
                </a:moveTo>
                <a:cubicBezTo>
                  <a:pt x="134843" y="65460"/>
                  <a:pt x="133732" y="58514"/>
                  <a:pt x="128766" y="54903"/>
                </a:cubicBezTo>
                <a:cubicBezTo>
                  <a:pt x="123800" y="51291"/>
                  <a:pt x="116855" y="52402"/>
                  <a:pt x="113243" y="57368"/>
                </a:cubicBezTo>
                <a:lnTo>
                  <a:pt x="54208" y="138524"/>
                </a:lnTo>
                <a:lnTo>
                  <a:pt x="30073" y="114389"/>
                </a:lnTo>
                <a:cubicBezTo>
                  <a:pt x="25732" y="110048"/>
                  <a:pt x="18683" y="110048"/>
                  <a:pt x="14342" y="114389"/>
                </a:cubicBezTo>
                <a:cubicBezTo>
                  <a:pt x="10001" y="118730"/>
                  <a:pt x="10001" y="125780"/>
                  <a:pt x="14342" y="130120"/>
                </a:cubicBezTo>
                <a:lnTo>
                  <a:pt x="47680" y="163458"/>
                </a:lnTo>
                <a:cubicBezTo>
                  <a:pt x="49972" y="165750"/>
                  <a:pt x="53166" y="166931"/>
                  <a:pt x="56396" y="166688"/>
                </a:cubicBezTo>
                <a:cubicBezTo>
                  <a:pt x="59626" y="166444"/>
                  <a:pt x="62612" y="164778"/>
                  <a:pt x="64522" y="162138"/>
                </a:cubicBezTo>
                <a:lnTo>
                  <a:pt x="131197" y="7046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0" name="Text 7"/>
          <p:cNvSpPr/>
          <p:nvPr/>
        </p:nvSpPr>
        <p:spPr>
          <a:xfrm>
            <a:off x="1356977" y="5321300"/>
            <a:ext cx="655145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Повышение соответствия проектной деятельности стандартам.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4478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RSA: Визуальное моделирование и генерация кода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68400" y="2006600"/>
            <a:ext cx="985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Rational Software Architect обеспечивает полный цикл UML-моделирования и автоматическую генерацию заготовок кода, интегрированный с RUP через веб-интерфейс.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651000" y="3149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007BFF">
              <a:alpha val="13333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032000" y="3530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8672" y="228689"/>
                </a:moveTo>
                <a:lnTo>
                  <a:pt x="150644" y="121622"/>
                </a:lnTo>
                <a:cubicBezTo>
                  <a:pt x="145643" y="110728"/>
                  <a:pt x="142786" y="98584"/>
                  <a:pt x="142786" y="85725"/>
                </a:cubicBezTo>
                <a:cubicBezTo>
                  <a:pt x="142786" y="38398"/>
                  <a:pt x="181183" y="0"/>
                  <a:pt x="228511" y="0"/>
                </a:cubicBezTo>
                <a:cubicBezTo>
                  <a:pt x="275838" y="0"/>
                  <a:pt x="314236" y="38398"/>
                  <a:pt x="314236" y="85725"/>
                </a:cubicBezTo>
                <a:cubicBezTo>
                  <a:pt x="314236" y="98494"/>
                  <a:pt x="311467" y="110639"/>
                  <a:pt x="306378" y="121622"/>
                </a:cubicBezTo>
                <a:lnTo>
                  <a:pt x="346025" y="190113"/>
                </a:lnTo>
                <a:cubicBezTo>
                  <a:pt x="325398" y="213330"/>
                  <a:pt x="298073" y="230386"/>
                  <a:pt x="267087" y="238155"/>
                </a:cubicBezTo>
                <a:lnTo>
                  <a:pt x="228600" y="171361"/>
                </a:lnTo>
                <a:lnTo>
                  <a:pt x="167789" y="276374"/>
                </a:lnTo>
                <a:cubicBezTo>
                  <a:pt x="186988" y="282446"/>
                  <a:pt x="207347" y="285750"/>
                  <a:pt x="228600" y="285750"/>
                </a:cubicBezTo>
                <a:cubicBezTo>
                  <a:pt x="291733" y="285750"/>
                  <a:pt x="348079" y="256550"/>
                  <a:pt x="384780" y="210741"/>
                </a:cubicBezTo>
                <a:cubicBezTo>
                  <a:pt x="394692" y="198418"/>
                  <a:pt x="412641" y="196453"/>
                  <a:pt x="424964" y="206276"/>
                </a:cubicBezTo>
                <a:cubicBezTo>
                  <a:pt x="437287" y="216098"/>
                  <a:pt x="439251" y="234136"/>
                  <a:pt x="429429" y="246459"/>
                </a:cubicBezTo>
                <a:cubicBezTo>
                  <a:pt x="382369" y="305217"/>
                  <a:pt x="309860" y="342900"/>
                  <a:pt x="228689" y="342900"/>
                </a:cubicBezTo>
                <a:cubicBezTo>
                  <a:pt x="197078" y="342900"/>
                  <a:pt x="166717" y="337185"/>
                  <a:pt x="138767" y="326737"/>
                </a:cubicBezTo>
                <a:lnTo>
                  <a:pt x="88136" y="414070"/>
                </a:lnTo>
                <a:cubicBezTo>
                  <a:pt x="83939" y="421303"/>
                  <a:pt x="77688" y="427196"/>
                  <a:pt x="70187" y="430947"/>
                </a:cubicBezTo>
                <a:lnTo>
                  <a:pt x="20717" y="455682"/>
                </a:lnTo>
                <a:cubicBezTo>
                  <a:pt x="16252" y="457914"/>
                  <a:pt x="10984" y="457646"/>
                  <a:pt x="6787" y="455057"/>
                </a:cubicBezTo>
                <a:cubicBezTo>
                  <a:pt x="2590" y="452467"/>
                  <a:pt x="0" y="447824"/>
                  <a:pt x="0" y="442913"/>
                </a:cubicBezTo>
                <a:lnTo>
                  <a:pt x="0" y="393442"/>
                </a:lnTo>
                <a:cubicBezTo>
                  <a:pt x="0" y="385941"/>
                  <a:pt x="1965" y="378529"/>
                  <a:pt x="5804" y="371921"/>
                </a:cubicBezTo>
                <a:lnTo>
                  <a:pt x="59382" y="279321"/>
                </a:lnTo>
                <a:cubicBezTo>
                  <a:pt x="47952" y="269319"/>
                  <a:pt x="37415" y="258336"/>
                  <a:pt x="27861" y="246459"/>
                </a:cubicBezTo>
                <a:cubicBezTo>
                  <a:pt x="17949" y="234136"/>
                  <a:pt x="20003" y="216188"/>
                  <a:pt x="32325" y="206276"/>
                </a:cubicBezTo>
                <a:cubicBezTo>
                  <a:pt x="44648" y="196364"/>
                  <a:pt x="62597" y="198418"/>
                  <a:pt x="72509" y="210741"/>
                </a:cubicBezTo>
                <a:cubicBezTo>
                  <a:pt x="77599" y="217081"/>
                  <a:pt x="83046" y="223064"/>
                  <a:pt x="88761" y="228689"/>
                </a:cubicBezTo>
                <a:close/>
                <a:moveTo>
                  <a:pt x="340310" y="364242"/>
                </a:moveTo>
                <a:cubicBezTo>
                  <a:pt x="369332" y="352633"/>
                  <a:pt x="396032" y="336560"/>
                  <a:pt x="419695" y="317004"/>
                </a:cubicBezTo>
                <a:lnTo>
                  <a:pt x="451485" y="371921"/>
                </a:lnTo>
                <a:cubicBezTo>
                  <a:pt x="455235" y="378440"/>
                  <a:pt x="457289" y="385852"/>
                  <a:pt x="457289" y="393442"/>
                </a:cubicBezTo>
                <a:lnTo>
                  <a:pt x="457289" y="442913"/>
                </a:lnTo>
                <a:cubicBezTo>
                  <a:pt x="457289" y="447824"/>
                  <a:pt x="454700" y="452467"/>
                  <a:pt x="450503" y="455057"/>
                </a:cubicBezTo>
                <a:cubicBezTo>
                  <a:pt x="446306" y="457646"/>
                  <a:pt x="441037" y="457914"/>
                  <a:pt x="436572" y="455682"/>
                </a:cubicBezTo>
                <a:lnTo>
                  <a:pt x="387102" y="430947"/>
                </a:lnTo>
                <a:cubicBezTo>
                  <a:pt x="379601" y="427196"/>
                  <a:pt x="373350" y="421303"/>
                  <a:pt x="369153" y="414070"/>
                </a:cubicBezTo>
                <a:lnTo>
                  <a:pt x="340310" y="364242"/>
                </a:lnTo>
                <a:close/>
                <a:moveTo>
                  <a:pt x="228600" y="114300"/>
                </a:moveTo>
                <a:cubicBezTo>
                  <a:pt x="244371" y="114300"/>
                  <a:pt x="257175" y="101496"/>
                  <a:pt x="257175" y="85725"/>
                </a:cubicBez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7" name="Text 4"/>
          <p:cNvSpPr/>
          <p:nvPr/>
        </p:nvSpPr>
        <p:spPr>
          <a:xfrm>
            <a:off x="1537494" y="447040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Архитекторы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6450" y="4775200"/>
            <a:ext cx="290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Загружают модели в хранилище, связывают с требованиями.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73500" y="39116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0" y="3022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007BFF">
              <a:alpha val="13333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867400" y="340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12" name="Text 9"/>
          <p:cNvSpPr/>
          <p:nvPr/>
        </p:nvSpPr>
        <p:spPr>
          <a:xfrm>
            <a:off x="4784328" y="4343400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Центральное хранилище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41850" y="4648200"/>
            <a:ext cx="2908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Обеспечивает доступ к актуальным моделям и шаблонам.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08900" y="39116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321800" y="3149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007BFF">
              <a:alpha val="13333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9645650" y="3530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85725"/>
                </a:moveTo>
                <a:cubicBezTo>
                  <a:pt x="57150" y="54203"/>
                  <a:pt x="82778" y="28575"/>
                  <a:pt x="114300" y="28575"/>
                </a:cubicBezTo>
                <a:lnTo>
                  <a:pt x="457200" y="28575"/>
                </a:lnTo>
                <a:cubicBezTo>
                  <a:pt x="488722" y="28575"/>
                  <a:pt x="514350" y="54203"/>
                  <a:pt x="514350" y="85725"/>
                </a:cubicBezTo>
                <a:lnTo>
                  <a:pt x="514350" y="300038"/>
                </a:lnTo>
                <a:lnTo>
                  <a:pt x="457200" y="300038"/>
                </a:lnTo>
                <a:lnTo>
                  <a:pt x="457200" y="85725"/>
                </a:lnTo>
                <a:lnTo>
                  <a:pt x="114300" y="85725"/>
                </a:lnTo>
                <a:lnTo>
                  <a:pt x="114300" y="300038"/>
                </a:lnTo>
                <a:lnTo>
                  <a:pt x="57150" y="300038"/>
                </a:lnTo>
                <a:lnTo>
                  <a:pt x="57150" y="85725"/>
                </a:lnTo>
                <a:close/>
                <a:moveTo>
                  <a:pt x="0" y="360045"/>
                </a:moveTo>
                <a:cubicBezTo>
                  <a:pt x="0" y="350580"/>
                  <a:pt x="7680" y="342900"/>
                  <a:pt x="17145" y="342900"/>
                </a:cubicBezTo>
                <a:lnTo>
                  <a:pt x="554355" y="342900"/>
                </a:lnTo>
                <a:cubicBezTo>
                  <a:pt x="563820" y="342900"/>
                  <a:pt x="571500" y="350580"/>
                  <a:pt x="571500" y="360045"/>
                </a:cubicBezTo>
                <a:cubicBezTo>
                  <a:pt x="571500" y="397907"/>
                  <a:pt x="540782" y="428625"/>
                  <a:pt x="502920" y="428625"/>
                </a:cubicBezTo>
                <a:lnTo>
                  <a:pt x="68580" y="428625"/>
                </a:lnTo>
                <a:cubicBezTo>
                  <a:pt x="30718" y="428625"/>
                  <a:pt x="0" y="397907"/>
                  <a:pt x="0" y="360045"/>
                </a:cubicBezTo>
                <a:close/>
                <a:moveTo>
                  <a:pt x="250924" y="186630"/>
                </a:moveTo>
                <a:lnTo>
                  <a:pt x="223242" y="214313"/>
                </a:lnTo>
                <a:lnTo>
                  <a:pt x="250924" y="241995"/>
                </a:lnTo>
                <a:cubicBezTo>
                  <a:pt x="259318" y="250388"/>
                  <a:pt x="259318" y="263962"/>
                  <a:pt x="250924" y="272266"/>
                </a:cubicBezTo>
                <a:cubicBezTo>
                  <a:pt x="242530" y="280571"/>
                  <a:pt x="228957" y="280660"/>
                  <a:pt x="220653" y="272266"/>
                </a:cubicBezTo>
                <a:lnTo>
                  <a:pt x="177790" y="229404"/>
                </a:lnTo>
                <a:cubicBezTo>
                  <a:pt x="169396" y="221010"/>
                  <a:pt x="169396" y="207437"/>
                  <a:pt x="177790" y="199132"/>
                </a:cubicBezTo>
                <a:lnTo>
                  <a:pt x="220653" y="156270"/>
                </a:lnTo>
                <a:cubicBezTo>
                  <a:pt x="229046" y="147876"/>
                  <a:pt x="242620" y="147876"/>
                  <a:pt x="250924" y="156270"/>
                </a:cubicBezTo>
                <a:cubicBezTo>
                  <a:pt x="259229" y="164663"/>
                  <a:pt x="259318" y="178237"/>
                  <a:pt x="250924" y="186541"/>
                </a:cubicBezTo>
                <a:close/>
                <a:moveTo>
                  <a:pt x="350937" y="156270"/>
                </a:moveTo>
                <a:lnTo>
                  <a:pt x="393799" y="199132"/>
                </a:lnTo>
                <a:cubicBezTo>
                  <a:pt x="402193" y="207526"/>
                  <a:pt x="402193" y="221099"/>
                  <a:pt x="393799" y="229404"/>
                </a:cubicBezTo>
                <a:lnTo>
                  <a:pt x="350937" y="272266"/>
                </a:lnTo>
                <a:cubicBezTo>
                  <a:pt x="342543" y="280660"/>
                  <a:pt x="328970" y="280660"/>
                  <a:pt x="320665" y="272266"/>
                </a:cubicBezTo>
                <a:cubicBezTo>
                  <a:pt x="312360" y="263872"/>
                  <a:pt x="312271" y="250299"/>
                  <a:pt x="320665" y="241995"/>
                </a:cubicBezTo>
                <a:lnTo>
                  <a:pt x="348347" y="214313"/>
                </a:lnTo>
                <a:lnTo>
                  <a:pt x="320665" y="186630"/>
                </a:lnTo>
                <a:cubicBezTo>
                  <a:pt x="312271" y="178237"/>
                  <a:pt x="312271" y="164663"/>
                  <a:pt x="320665" y="156359"/>
                </a:cubicBezTo>
                <a:cubicBezTo>
                  <a:pt x="329059" y="148054"/>
                  <a:pt x="342632" y="147965"/>
                  <a:pt x="350937" y="156359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17" name="Text 14"/>
          <p:cNvSpPr/>
          <p:nvPr/>
        </p:nvSpPr>
        <p:spPr>
          <a:xfrm>
            <a:off x="9177933" y="4470400"/>
            <a:ext cx="151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Разработчики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77250" y="4775200"/>
            <a:ext cx="290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Получают шаблоны классов, обеспечивая синхронизацию.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550" y="447444"/>
            <a:ext cx="80856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DOORS: Управление требованиями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0551" y="1514244"/>
            <a:ext cx="106895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IBM Engineering Requirements Management DOORS предоставляет веб-доступ к базе требований, обеспечивая трассируемость от бизнес-целей до тестов.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40550" y="2631844"/>
            <a:ext cx="10689531" cy="1117600"/>
          </a:xfrm>
          <a:custGeom>
            <a:avLst/>
            <a:gdLst/>
            <a:ahLst/>
            <a:cxnLst/>
            <a:rect l="l" t="t" r="r" b="b"/>
            <a:pathLst>
              <a:path w="5435600" h="1117600">
                <a:moveTo>
                  <a:pt x="101601" y="0"/>
                </a:moveTo>
                <a:lnTo>
                  <a:pt x="5333999" y="0"/>
                </a:lnTo>
                <a:cubicBezTo>
                  <a:pt x="5390112" y="0"/>
                  <a:pt x="5435600" y="45488"/>
                  <a:pt x="5435600" y="101601"/>
                </a:cubicBezTo>
                <a:lnTo>
                  <a:pt x="5435600" y="1015999"/>
                </a:lnTo>
                <a:cubicBezTo>
                  <a:pt x="5435600" y="1072112"/>
                  <a:pt x="5390112" y="1117600"/>
                  <a:pt x="5333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792951" y="2784244"/>
            <a:ext cx="523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Создание и версионирование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92950" y="3089044"/>
            <a:ext cx="10246461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Аналитики создают, версионируют и одобряют требования, связывая их с вариантами использования и архитектурой.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551" y="3901844"/>
            <a:ext cx="10689530" cy="1117600"/>
          </a:xfrm>
          <a:custGeom>
            <a:avLst/>
            <a:gdLst/>
            <a:ahLst/>
            <a:cxnLst/>
            <a:rect l="l" t="t" r="r" b="b"/>
            <a:pathLst>
              <a:path w="5435600" h="1117600">
                <a:moveTo>
                  <a:pt x="101601" y="0"/>
                </a:moveTo>
                <a:lnTo>
                  <a:pt x="5333999" y="0"/>
                </a:lnTo>
                <a:cubicBezTo>
                  <a:pt x="5390112" y="0"/>
                  <a:pt x="5435600" y="45488"/>
                  <a:pt x="5435600" y="101601"/>
                </a:cubicBezTo>
                <a:lnTo>
                  <a:pt x="5435600" y="1015999"/>
                </a:lnTo>
                <a:cubicBezTo>
                  <a:pt x="5435600" y="1072112"/>
                  <a:pt x="5390112" y="1117600"/>
                  <a:pt x="5333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792951" y="4054244"/>
            <a:ext cx="523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Формальность и прозрачность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92951" y="4359044"/>
            <a:ext cx="1024646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Механизмы доступа по ролям и электронные подписи повышают формальность процесса.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551" y="5171844"/>
            <a:ext cx="10689530" cy="1117600"/>
          </a:xfrm>
          <a:custGeom>
            <a:avLst/>
            <a:gdLst/>
            <a:ahLst/>
            <a:cxnLst/>
            <a:rect l="l" t="t" r="r" b="b"/>
            <a:pathLst>
              <a:path w="5435600" h="1117600">
                <a:moveTo>
                  <a:pt x="101601" y="0"/>
                </a:moveTo>
                <a:lnTo>
                  <a:pt x="5333999" y="0"/>
                </a:lnTo>
                <a:cubicBezTo>
                  <a:pt x="5390112" y="0"/>
                  <a:pt x="5435600" y="45488"/>
                  <a:pt x="5435600" y="101601"/>
                </a:cubicBezTo>
                <a:lnTo>
                  <a:pt x="5435600" y="1015999"/>
                </a:lnTo>
                <a:cubicBezTo>
                  <a:pt x="5435600" y="1072112"/>
                  <a:pt x="5390112" y="1117600"/>
                  <a:pt x="5333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792951" y="5324244"/>
            <a:ext cx="523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Ускорение согласования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92950" y="5629044"/>
            <a:ext cx="1034940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Веб-интерфейс ускоряет согласование изменений между заказчиком и командой.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6256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ClearCase: Управление конфигурациями и изменениями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68400" y="2286000"/>
            <a:ext cx="985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Rational ClearCase через веб-клиент предоставляет функции централизованного и распределённого управления версиями, обеспечивая создание конфигурационных baselines и отслеживание статуса изменений.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070100" y="36068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95250" y="123825"/>
                </a:moveTo>
                <a:cubicBezTo>
                  <a:pt x="111021" y="123825"/>
                  <a:pt x="123825" y="111021"/>
                  <a:pt x="123825" y="95250"/>
                </a:cubicBezTo>
                <a:cubicBezTo>
                  <a:pt x="123825" y="79479"/>
                  <a:pt x="111021" y="66675"/>
                  <a:pt x="95250" y="66675"/>
                </a:cubicBezTo>
                <a:cubicBezTo>
                  <a:pt x="79479" y="66675"/>
                  <a:pt x="66675" y="79479"/>
                  <a:pt x="66675" y="95250"/>
                </a:cubicBezTo>
                <a:cubicBezTo>
                  <a:pt x="66675" y="111021"/>
                  <a:pt x="79479" y="123825"/>
                  <a:pt x="95250" y="123825"/>
                </a:cubicBezTo>
                <a:close/>
                <a:moveTo>
                  <a:pt x="190500" y="95250"/>
                </a:moveTo>
                <a:cubicBezTo>
                  <a:pt x="190500" y="134303"/>
                  <a:pt x="167045" y="167878"/>
                  <a:pt x="133350" y="182523"/>
                </a:cubicBezTo>
                <a:lnTo>
                  <a:pt x="133350" y="266700"/>
                </a:lnTo>
                <a:lnTo>
                  <a:pt x="342900" y="266700"/>
                </a:lnTo>
                <a:cubicBezTo>
                  <a:pt x="374452" y="266700"/>
                  <a:pt x="400050" y="241102"/>
                  <a:pt x="400050" y="209550"/>
                </a:cubicBezTo>
                <a:lnTo>
                  <a:pt x="400050" y="182523"/>
                </a:lnTo>
                <a:cubicBezTo>
                  <a:pt x="366355" y="167878"/>
                  <a:pt x="342900" y="134303"/>
                  <a:pt x="342900" y="95250"/>
                </a:cubicBezTo>
                <a:cubicBezTo>
                  <a:pt x="342900" y="42624"/>
                  <a:pt x="385524" y="0"/>
                  <a:pt x="438150" y="0"/>
                </a:cubicBezTo>
                <a:cubicBezTo>
                  <a:pt x="490776" y="0"/>
                  <a:pt x="533400" y="42624"/>
                  <a:pt x="533400" y="95250"/>
                </a:cubicBezTo>
                <a:cubicBezTo>
                  <a:pt x="533400" y="134303"/>
                  <a:pt x="509945" y="167878"/>
                  <a:pt x="476250" y="182523"/>
                </a:cubicBezTo>
                <a:lnTo>
                  <a:pt x="476250" y="209550"/>
                </a:lnTo>
                <a:cubicBezTo>
                  <a:pt x="476250" y="283250"/>
                  <a:pt x="416600" y="342900"/>
                  <a:pt x="342900" y="342900"/>
                </a:cubicBezTo>
                <a:lnTo>
                  <a:pt x="133350" y="342900"/>
                </a:lnTo>
                <a:lnTo>
                  <a:pt x="133350" y="427077"/>
                </a:lnTo>
                <a:cubicBezTo>
                  <a:pt x="167045" y="441722"/>
                  <a:pt x="190500" y="475298"/>
                  <a:pt x="190500" y="514350"/>
                </a:cubicBezTo>
                <a:cubicBezTo>
                  <a:pt x="190500" y="566976"/>
                  <a:pt x="147876" y="609600"/>
                  <a:pt x="95250" y="609600"/>
                </a:cubicBezTo>
                <a:cubicBezTo>
                  <a:pt x="42624" y="609600"/>
                  <a:pt x="0" y="566976"/>
                  <a:pt x="0" y="514350"/>
                </a:cubicBezTo>
                <a:cubicBezTo>
                  <a:pt x="0" y="475298"/>
                  <a:pt x="23455" y="441722"/>
                  <a:pt x="57150" y="427077"/>
                </a:cubicBezTo>
                <a:lnTo>
                  <a:pt x="57150" y="182642"/>
                </a:lnTo>
                <a:cubicBezTo>
                  <a:pt x="23455" y="167878"/>
                  <a:pt x="0" y="134303"/>
                  <a:pt x="0" y="95250"/>
                </a:cubicBezTo>
                <a:cubicBezTo>
                  <a:pt x="0" y="42624"/>
                  <a:pt x="42624" y="0"/>
                  <a:pt x="95250" y="0"/>
                </a:cubicBezTo>
                <a:cubicBezTo>
                  <a:pt x="147876" y="0"/>
                  <a:pt x="190500" y="42624"/>
                  <a:pt x="190500" y="95250"/>
                </a:cubicBezTo>
                <a:close/>
                <a:moveTo>
                  <a:pt x="466725" y="95250"/>
                </a:moveTo>
                <a:cubicBezTo>
                  <a:pt x="466725" y="79479"/>
                  <a:pt x="453921" y="66675"/>
                  <a:pt x="438150" y="66675"/>
                </a:cubicBezTo>
                <a:cubicBezTo>
                  <a:pt x="422379" y="66675"/>
                  <a:pt x="409575" y="79479"/>
                  <a:pt x="409575" y="95250"/>
                </a:cubicBezTo>
                <a:cubicBezTo>
                  <a:pt x="409575" y="111021"/>
                  <a:pt x="422379" y="123825"/>
                  <a:pt x="438150" y="123825"/>
                </a:cubicBezTo>
                <a:cubicBezTo>
                  <a:pt x="453921" y="123825"/>
                  <a:pt x="466725" y="111021"/>
                  <a:pt x="466725" y="95250"/>
                </a:cubicBezTo>
                <a:close/>
                <a:moveTo>
                  <a:pt x="95250" y="542925"/>
                </a:moveTo>
                <a:cubicBezTo>
                  <a:pt x="111021" y="542925"/>
                  <a:pt x="123825" y="530121"/>
                  <a:pt x="123825" y="514350"/>
                </a:cubicBezTo>
                <a:cubicBezTo>
                  <a:pt x="123825" y="498579"/>
                  <a:pt x="111021" y="485775"/>
                  <a:pt x="95250" y="485775"/>
                </a:cubicBezTo>
                <a:cubicBezTo>
                  <a:pt x="79479" y="485775"/>
                  <a:pt x="66675" y="498579"/>
                  <a:pt x="66675" y="514350"/>
                </a:cubicBezTo>
                <a:cubicBezTo>
                  <a:pt x="66675" y="530121"/>
                  <a:pt x="79479" y="542925"/>
                  <a:pt x="95250" y="542925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6" name="Text 3"/>
          <p:cNvSpPr/>
          <p:nvPr/>
        </p:nvSpPr>
        <p:spPr>
          <a:xfrm>
            <a:off x="1668066" y="4368800"/>
            <a:ext cx="133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Ветвление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2650" y="4724400"/>
            <a:ext cx="290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Для параллельной разработки и изоляции изменений.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91200" y="3606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76820" y="6191"/>
                </a:moveTo>
                <a:cubicBezTo>
                  <a:pt x="294561" y="-2024"/>
                  <a:pt x="315039" y="-2024"/>
                  <a:pt x="332780" y="6191"/>
                </a:cubicBezTo>
                <a:lnTo>
                  <a:pt x="593050" y="126444"/>
                </a:lnTo>
                <a:cubicBezTo>
                  <a:pt x="603171" y="131088"/>
                  <a:pt x="609600" y="141208"/>
                  <a:pt x="609600" y="152400"/>
                </a:cubicBezTo>
                <a:cubicBezTo>
                  <a:pt x="609600" y="163592"/>
                  <a:pt x="603171" y="173712"/>
                  <a:pt x="593050" y="178356"/>
                </a:cubicBezTo>
                <a:lnTo>
                  <a:pt x="332780" y="298609"/>
                </a:lnTo>
                <a:cubicBezTo>
                  <a:pt x="315039" y="306824"/>
                  <a:pt x="294561" y="306824"/>
                  <a:pt x="276820" y="298609"/>
                </a:cubicBezTo>
                <a:lnTo>
                  <a:pt x="16550" y="178356"/>
                </a:lnTo>
                <a:cubicBezTo>
                  <a:pt x="6429" y="173593"/>
                  <a:pt x="0" y="163473"/>
                  <a:pt x="0" y="152400"/>
                </a:cubicBezTo>
                <a:cubicBezTo>
                  <a:pt x="0" y="141327"/>
                  <a:pt x="6429" y="131088"/>
                  <a:pt x="16550" y="126444"/>
                </a:cubicBezTo>
                <a:lnTo>
                  <a:pt x="276820" y="6191"/>
                </a:lnTo>
                <a:close/>
                <a:moveTo>
                  <a:pt x="57269" y="260033"/>
                </a:moveTo>
                <a:lnTo>
                  <a:pt x="252889" y="350401"/>
                </a:lnTo>
                <a:cubicBezTo>
                  <a:pt x="285869" y="365641"/>
                  <a:pt x="323850" y="365641"/>
                  <a:pt x="356830" y="350401"/>
                </a:cubicBezTo>
                <a:lnTo>
                  <a:pt x="552450" y="260033"/>
                </a:lnTo>
                <a:lnTo>
                  <a:pt x="593050" y="278844"/>
                </a:lnTo>
                <a:cubicBezTo>
                  <a:pt x="603171" y="283488"/>
                  <a:pt x="609600" y="293608"/>
                  <a:pt x="609600" y="304800"/>
                </a:cubicBezTo>
                <a:cubicBezTo>
                  <a:pt x="609600" y="315992"/>
                  <a:pt x="603171" y="326112"/>
                  <a:pt x="593050" y="330756"/>
                </a:cubicBezTo>
                <a:lnTo>
                  <a:pt x="332780" y="451009"/>
                </a:lnTo>
                <a:cubicBezTo>
                  <a:pt x="315039" y="459224"/>
                  <a:pt x="294561" y="459224"/>
                  <a:pt x="276820" y="451009"/>
                </a:cubicBezTo>
                <a:lnTo>
                  <a:pt x="16550" y="330756"/>
                </a:lnTo>
                <a:cubicBezTo>
                  <a:pt x="6429" y="325993"/>
                  <a:pt x="0" y="315873"/>
                  <a:pt x="0" y="304800"/>
                </a:cubicBezTo>
                <a:cubicBezTo>
                  <a:pt x="0" y="293727"/>
                  <a:pt x="6429" y="283488"/>
                  <a:pt x="16550" y="278844"/>
                </a:cubicBezTo>
                <a:lnTo>
                  <a:pt x="57150" y="260033"/>
                </a:lnTo>
                <a:close/>
                <a:moveTo>
                  <a:pt x="16550" y="431244"/>
                </a:moveTo>
                <a:lnTo>
                  <a:pt x="57150" y="412433"/>
                </a:lnTo>
                <a:lnTo>
                  <a:pt x="252770" y="502801"/>
                </a:lnTo>
                <a:cubicBezTo>
                  <a:pt x="285750" y="518041"/>
                  <a:pt x="323731" y="518041"/>
                  <a:pt x="356711" y="502801"/>
                </a:cubicBezTo>
                <a:lnTo>
                  <a:pt x="552331" y="412433"/>
                </a:lnTo>
                <a:lnTo>
                  <a:pt x="592931" y="431244"/>
                </a:lnTo>
                <a:cubicBezTo>
                  <a:pt x="603052" y="435888"/>
                  <a:pt x="609481" y="446008"/>
                  <a:pt x="609481" y="457200"/>
                </a:cubicBezTo>
                <a:cubicBezTo>
                  <a:pt x="609481" y="468392"/>
                  <a:pt x="603052" y="478512"/>
                  <a:pt x="592931" y="483156"/>
                </a:cubicBezTo>
                <a:lnTo>
                  <a:pt x="332661" y="603409"/>
                </a:lnTo>
                <a:cubicBezTo>
                  <a:pt x="314920" y="611624"/>
                  <a:pt x="294442" y="611624"/>
                  <a:pt x="276701" y="603409"/>
                </a:cubicBezTo>
                <a:lnTo>
                  <a:pt x="16550" y="483156"/>
                </a:lnTo>
                <a:cubicBezTo>
                  <a:pt x="6429" y="478393"/>
                  <a:pt x="0" y="468273"/>
                  <a:pt x="0" y="457200"/>
                </a:cubicBezTo>
                <a:cubicBezTo>
                  <a:pt x="0" y="446127"/>
                  <a:pt x="6429" y="435888"/>
                  <a:pt x="16550" y="431244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9" name="Text 6"/>
          <p:cNvSpPr/>
          <p:nvPr/>
        </p:nvSpPr>
        <p:spPr>
          <a:xfrm>
            <a:off x="5538788" y="4368800"/>
            <a:ext cx="111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Baselines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41850" y="4724400"/>
            <a:ext cx="290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Создание конфигураций в конце каждой итерации.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512300" y="36068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99467" y="114300"/>
                </a:moveTo>
                <a:cubicBezTo>
                  <a:pt x="479703" y="114300"/>
                  <a:pt x="460534" y="119658"/>
                  <a:pt x="443746" y="129421"/>
                </a:cubicBezTo>
                <a:cubicBezTo>
                  <a:pt x="424934" y="110371"/>
                  <a:pt x="403027" y="94417"/>
                  <a:pt x="378857" y="82391"/>
                </a:cubicBezTo>
                <a:cubicBezTo>
                  <a:pt x="412433" y="53816"/>
                  <a:pt x="455176" y="38100"/>
                  <a:pt x="499467" y="38100"/>
                </a:cubicBezTo>
                <a:cubicBezTo>
                  <a:pt x="602337" y="38100"/>
                  <a:pt x="685800" y="121444"/>
                  <a:pt x="685800" y="224433"/>
                </a:cubicBezTo>
                <a:cubicBezTo>
                  <a:pt x="685800" y="273844"/>
                  <a:pt x="666155" y="321231"/>
                  <a:pt x="631269" y="356116"/>
                </a:cubicBezTo>
                <a:lnTo>
                  <a:pt x="546616" y="440769"/>
                </a:lnTo>
                <a:cubicBezTo>
                  <a:pt x="511731" y="475655"/>
                  <a:pt x="464344" y="495300"/>
                  <a:pt x="414933" y="495300"/>
                </a:cubicBezTo>
                <a:cubicBezTo>
                  <a:pt x="312063" y="495300"/>
                  <a:pt x="228600" y="411956"/>
                  <a:pt x="228600" y="308967"/>
                </a:cubicBezTo>
                <a:cubicBezTo>
                  <a:pt x="228600" y="307181"/>
                  <a:pt x="228600" y="305395"/>
                  <a:pt x="228719" y="303609"/>
                </a:cubicBezTo>
                <a:cubicBezTo>
                  <a:pt x="229314" y="282535"/>
                  <a:pt x="246817" y="265986"/>
                  <a:pt x="267891" y="266581"/>
                </a:cubicBezTo>
                <a:cubicBezTo>
                  <a:pt x="288965" y="267176"/>
                  <a:pt x="305514" y="284678"/>
                  <a:pt x="304919" y="305753"/>
                </a:cubicBezTo>
                <a:cubicBezTo>
                  <a:pt x="304919" y="306824"/>
                  <a:pt x="304919" y="307896"/>
                  <a:pt x="304919" y="308848"/>
                </a:cubicBezTo>
                <a:cubicBezTo>
                  <a:pt x="304919" y="369689"/>
                  <a:pt x="354211" y="418981"/>
                  <a:pt x="415052" y="418981"/>
                </a:cubicBezTo>
                <a:cubicBezTo>
                  <a:pt x="444222" y="418981"/>
                  <a:pt x="472202" y="407432"/>
                  <a:pt x="492919" y="386715"/>
                </a:cubicBezTo>
                <a:lnTo>
                  <a:pt x="577572" y="302062"/>
                </a:lnTo>
                <a:cubicBezTo>
                  <a:pt x="598170" y="281464"/>
                  <a:pt x="609838" y="253365"/>
                  <a:pt x="609838" y="224195"/>
                </a:cubicBezTo>
                <a:cubicBezTo>
                  <a:pt x="609838" y="163354"/>
                  <a:pt x="560546" y="114062"/>
                  <a:pt x="499705" y="114062"/>
                </a:cubicBezTo>
                <a:close/>
                <a:moveTo>
                  <a:pt x="327660" y="206335"/>
                </a:moveTo>
                <a:cubicBezTo>
                  <a:pt x="325398" y="205383"/>
                  <a:pt x="323136" y="204073"/>
                  <a:pt x="321112" y="202644"/>
                </a:cubicBezTo>
                <a:cubicBezTo>
                  <a:pt x="306110" y="194905"/>
                  <a:pt x="288965" y="190500"/>
                  <a:pt x="270986" y="190500"/>
                </a:cubicBezTo>
                <a:cubicBezTo>
                  <a:pt x="241816" y="190500"/>
                  <a:pt x="213836" y="202049"/>
                  <a:pt x="193119" y="222766"/>
                </a:cubicBezTo>
                <a:lnTo>
                  <a:pt x="108466" y="307419"/>
                </a:lnTo>
                <a:cubicBezTo>
                  <a:pt x="87868" y="328017"/>
                  <a:pt x="76200" y="356116"/>
                  <a:pt x="76200" y="385286"/>
                </a:cubicBezTo>
                <a:cubicBezTo>
                  <a:pt x="76200" y="446127"/>
                  <a:pt x="125492" y="495419"/>
                  <a:pt x="186333" y="495419"/>
                </a:cubicBezTo>
                <a:cubicBezTo>
                  <a:pt x="205978" y="495419"/>
                  <a:pt x="225147" y="490180"/>
                  <a:pt x="241935" y="480417"/>
                </a:cubicBezTo>
                <a:cubicBezTo>
                  <a:pt x="260747" y="499467"/>
                  <a:pt x="282654" y="515422"/>
                  <a:pt x="306943" y="527447"/>
                </a:cubicBezTo>
                <a:cubicBezTo>
                  <a:pt x="273368" y="555903"/>
                  <a:pt x="230743" y="571738"/>
                  <a:pt x="186333" y="571738"/>
                </a:cubicBezTo>
                <a:cubicBezTo>
                  <a:pt x="83463" y="571738"/>
                  <a:pt x="0" y="488394"/>
                  <a:pt x="0" y="385405"/>
                </a:cubicBezTo>
                <a:cubicBezTo>
                  <a:pt x="0" y="335994"/>
                  <a:pt x="19645" y="288607"/>
                  <a:pt x="54531" y="253722"/>
                </a:cubicBezTo>
                <a:lnTo>
                  <a:pt x="139184" y="169069"/>
                </a:lnTo>
                <a:cubicBezTo>
                  <a:pt x="174069" y="134183"/>
                  <a:pt x="221456" y="114538"/>
                  <a:pt x="270867" y="114538"/>
                </a:cubicBezTo>
                <a:cubicBezTo>
                  <a:pt x="373975" y="114538"/>
                  <a:pt x="457200" y="198596"/>
                  <a:pt x="457200" y="301347"/>
                </a:cubicBezTo>
                <a:cubicBezTo>
                  <a:pt x="457200" y="302895"/>
                  <a:pt x="457200" y="304443"/>
                  <a:pt x="457200" y="305991"/>
                </a:cubicBezTo>
                <a:cubicBezTo>
                  <a:pt x="456724" y="327065"/>
                  <a:pt x="439222" y="343614"/>
                  <a:pt x="418148" y="343138"/>
                </a:cubicBezTo>
                <a:cubicBezTo>
                  <a:pt x="397073" y="342662"/>
                  <a:pt x="380524" y="325160"/>
                  <a:pt x="381000" y="304086"/>
                </a:cubicBezTo>
                <a:cubicBezTo>
                  <a:pt x="381000" y="303133"/>
                  <a:pt x="381000" y="302300"/>
                  <a:pt x="381000" y="301347"/>
                </a:cubicBezTo>
                <a:cubicBezTo>
                  <a:pt x="381000" y="261223"/>
                  <a:pt x="359569" y="225981"/>
                  <a:pt x="327660" y="206573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2" name="Text 9"/>
          <p:cNvSpPr/>
          <p:nvPr/>
        </p:nvSpPr>
        <p:spPr>
          <a:xfrm>
            <a:off x="8796536" y="4368800"/>
            <a:ext cx="212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Интеграция с RUP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01050" y="4724400"/>
            <a:ext cx="290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Связь коммитов с задачами для автоматизации отчётности.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Дополнительные модули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823" y="558165"/>
            <a:ext cx="9582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ClearQuest: Управление дефектами и задачами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02710" y="1617732"/>
            <a:ext cx="10355462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Rational ClearQuest дополняет ClearCase web-интерфейсом для отслеживания ошибок, изменений и enhancement-запросов на протяжении всего жизненного цикла.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81080" y="3276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3102" y="14407"/>
                </a:moveTo>
                <a:cubicBezTo>
                  <a:pt x="57428" y="17423"/>
                  <a:pt x="58460" y="23376"/>
                  <a:pt x="55443" y="27662"/>
                </a:cubicBezTo>
                <a:lnTo>
                  <a:pt x="33218" y="59412"/>
                </a:lnTo>
                <a:cubicBezTo>
                  <a:pt x="31591" y="61714"/>
                  <a:pt x="29051" y="63182"/>
                  <a:pt x="26233" y="63421"/>
                </a:cubicBezTo>
                <a:cubicBezTo>
                  <a:pt x="23416" y="63659"/>
                  <a:pt x="20638" y="62706"/>
                  <a:pt x="18653" y="60722"/>
                </a:cubicBezTo>
                <a:lnTo>
                  <a:pt x="2778" y="44847"/>
                </a:lnTo>
                <a:cubicBezTo>
                  <a:pt x="-913" y="41116"/>
                  <a:pt x="-913" y="35084"/>
                  <a:pt x="2778" y="31353"/>
                </a:cubicBezTo>
                <a:cubicBezTo>
                  <a:pt x="6469" y="27622"/>
                  <a:pt x="12541" y="27662"/>
                  <a:pt x="16272" y="31353"/>
                </a:cubicBezTo>
                <a:lnTo>
                  <a:pt x="24130" y="39211"/>
                </a:lnTo>
                <a:lnTo>
                  <a:pt x="39846" y="16748"/>
                </a:lnTo>
                <a:cubicBezTo>
                  <a:pt x="42863" y="12422"/>
                  <a:pt x="48816" y="11390"/>
                  <a:pt x="53102" y="14407"/>
                </a:cubicBezTo>
                <a:close/>
                <a:moveTo>
                  <a:pt x="53102" y="77907"/>
                </a:moveTo>
                <a:cubicBezTo>
                  <a:pt x="57428" y="80923"/>
                  <a:pt x="58460" y="86876"/>
                  <a:pt x="55443" y="91162"/>
                </a:cubicBezTo>
                <a:lnTo>
                  <a:pt x="33218" y="122912"/>
                </a:lnTo>
                <a:cubicBezTo>
                  <a:pt x="31591" y="125214"/>
                  <a:pt x="29051" y="126683"/>
                  <a:pt x="26233" y="126921"/>
                </a:cubicBezTo>
                <a:cubicBezTo>
                  <a:pt x="23416" y="127159"/>
                  <a:pt x="20638" y="126206"/>
                  <a:pt x="18653" y="124222"/>
                </a:cubicBezTo>
                <a:lnTo>
                  <a:pt x="2778" y="108347"/>
                </a:lnTo>
                <a:cubicBezTo>
                  <a:pt x="-953" y="104616"/>
                  <a:pt x="-953" y="98584"/>
                  <a:pt x="2778" y="94893"/>
                </a:cubicBezTo>
                <a:cubicBezTo>
                  <a:pt x="6509" y="91202"/>
                  <a:pt x="12541" y="91162"/>
                  <a:pt x="16232" y="94893"/>
                </a:cubicBezTo>
                <a:lnTo>
                  <a:pt x="24090" y="102751"/>
                </a:lnTo>
                <a:lnTo>
                  <a:pt x="39807" y="80288"/>
                </a:lnTo>
                <a:cubicBezTo>
                  <a:pt x="42823" y="75962"/>
                  <a:pt x="48776" y="74930"/>
                  <a:pt x="53062" y="77946"/>
                </a:cubicBezTo>
                <a:close/>
                <a:moveTo>
                  <a:pt x="88900" y="38100"/>
                </a:moveTo>
                <a:cubicBezTo>
                  <a:pt x="88900" y="31075"/>
                  <a:pt x="94575" y="25400"/>
                  <a:pt x="101600" y="25400"/>
                </a:cubicBezTo>
                <a:lnTo>
                  <a:pt x="190500" y="25400"/>
                </a:lnTo>
                <a:cubicBezTo>
                  <a:pt x="197525" y="25400"/>
                  <a:pt x="203200" y="31075"/>
                  <a:pt x="203200" y="38100"/>
                </a:cubicBezTo>
                <a:cubicBezTo>
                  <a:pt x="203200" y="45125"/>
                  <a:pt x="197525" y="50800"/>
                  <a:pt x="190500" y="50800"/>
                </a:cubicBezTo>
                <a:lnTo>
                  <a:pt x="101600" y="50800"/>
                </a:lnTo>
                <a:cubicBezTo>
                  <a:pt x="94575" y="50800"/>
                  <a:pt x="88900" y="45125"/>
                  <a:pt x="88900" y="38100"/>
                </a:cubicBezTo>
                <a:close/>
                <a:moveTo>
                  <a:pt x="88900" y="101600"/>
                </a:moveTo>
                <a:cubicBezTo>
                  <a:pt x="88900" y="94575"/>
                  <a:pt x="94575" y="88900"/>
                  <a:pt x="101600" y="88900"/>
                </a:cubicBezTo>
                <a:lnTo>
                  <a:pt x="190500" y="88900"/>
                </a:lnTo>
                <a:cubicBezTo>
                  <a:pt x="197525" y="88900"/>
                  <a:pt x="203200" y="94575"/>
                  <a:pt x="203200" y="101600"/>
                </a:cubicBezTo>
                <a:cubicBezTo>
                  <a:pt x="203200" y="108625"/>
                  <a:pt x="197525" y="114300"/>
                  <a:pt x="190500" y="114300"/>
                </a:cubicBezTo>
                <a:lnTo>
                  <a:pt x="101600" y="114300"/>
                </a:lnTo>
                <a:cubicBezTo>
                  <a:pt x="94575" y="114300"/>
                  <a:pt x="88900" y="108625"/>
                  <a:pt x="88900" y="101600"/>
                </a:cubicBezTo>
                <a:close/>
                <a:moveTo>
                  <a:pt x="63500" y="165100"/>
                </a:moveTo>
                <a:cubicBezTo>
                  <a:pt x="63500" y="158075"/>
                  <a:pt x="69175" y="152400"/>
                  <a:pt x="76200" y="152400"/>
                </a:cubicBezTo>
                <a:lnTo>
                  <a:pt x="190500" y="152400"/>
                </a:lnTo>
                <a:cubicBezTo>
                  <a:pt x="197525" y="152400"/>
                  <a:pt x="203200" y="158075"/>
                  <a:pt x="203200" y="165100"/>
                </a:cubicBezTo>
                <a:cubicBezTo>
                  <a:pt x="203200" y="172125"/>
                  <a:pt x="197525" y="177800"/>
                  <a:pt x="190500" y="177800"/>
                </a:cubicBezTo>
                <a:lnTo>
                  <a:pt x="76200" y="177800"/>
                </a:lnTo>
                <a:cubicBezTo>
                  <a:pt x="69175" y="177800"/>
                  <a:pt x="63500" y="172125"/>
                  <a:pt x="63500" y="165100"/>
                </a:cubicBezTo>
                <a:close/>
                <a:moveTo>
                  <a:pt x="25400" y="149225"/>
                </a:moveTo>
                <a:cubicBezTo>
                  <a:pt x="34162" y="149225"/>
                  <a:pt x="41275" y="156338"/>
                  <a:pt x="41275" y="165100"/>
                </a:cubicBezTo>
                <a:cubicBezTo>
                  <a:pt x="41275" y="173862"/>
                  <a:pt x="34162" y="180975"/>
                  <a:pt x="25400" y="180975"/>
                </a:cubicBezTo>
                <a:cubicBezTo>
                  <a:pt x="16638" y="180975"/>
                  <a:pt x="9525" y="173862"/>
                  <a:pt x="9525" y="165100"/>
                </a:cubicBezTo>
                <a:cubicBezTo>
                  <a:pt x="9525" y="156338"/>
                  <a:pt x="16638" y="149225"/>
                  <a:pt x="25400" y="149225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6" name="Text 3"/>
          <p:cNvSpPr/>
          <p:nvPr/>
        </p:nvSpPr>
        <p:spPr>
          <a:xfrm>
            <a:off x="1382701" y="3073400"/>
            <a:ext cx="896233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Настройка рабочих процессов согласования и назначения ответственных.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02710" y="4038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25400" y="18375"/>
                  <a:pt x="19725" y="12700"/>
                  <a:pt x="12700" y="12700"/>
                </a:cubicBezTo>
                <a:cubicBezTo>
                  <a:pt x="5675" y="12700"/>
                  <a:pt x="0" y="18375"/>
                  <a:pt x="0" y="25400"/>
                </a:cubicBezTo>
                <a:lnTo>
                  <a:pt x="0" y="158750"/>
                </a:lnTo>
                <a:cubicBezTo>
                  <a:pt x="0" y="176292"/>
                  <a:pt x="14208" y="190500"/>
                  <a:pt x="31750" y="190500"/>
                </a:cubicBezTo>
                <a:lnTo>
                  <a:pt x="190500" y="190500"/>
                </a:lnTo>
                <a:cubicBezTo>
                  <a:pt x="197525" y="190500"/>
                  <a:pt x="203200" y="184825"/>
                  <a:pt x="203200" y="177800"/>
                </a:cubicBezTo>
                <a:cubicBezTo>
                  <a:pt x="203200" y="170775"/>
                  <a:pt x="197525" y="165100"/>
                  <a:pt x="190500" y="165100"/>
                </a:cubicBezTo>
                <a:lnTo>
                  <a:pt x="31750" y="165100"/>
                </a:lnTo>
                <a:cubicBezTo>
                  <a:pt x="28258" y="165100"/>
                  <a:pt x="25400" y="162243"/>
                  <a:pt x="25400" y="158750"/>
                </a:cubicBezTo>
                <a:lnTo>
                  <a:pt x="25400" y="25400"/>
                </a:lnTo>
                <a:close/>
                <a:moveTo>
                  <a:pt x="186769" y="59769"/>
                </a:moveTo>
                <a:cubicBezTo>
                  <a:pt x="191730" y="54808"/>
                  <a:pt x="191730" y="46752"/>
                  <a:pt x="186769" y="41791"/>
                </a:cubicBezTo>
                <a:cubicBezTo>
                  <a:pt x="181808" y="36830"/>
                  <a:pt x="173752" y="36830"/>
                  <a:pt x="168791" y="41791"/>
                </a:cubicBezTo>
                <a:lnTo>
                  <a:pt x="127000" y="83622"/>
                </a:lnTo>
                <a:lnTo>
                  <a:pt x="104219" y="60881"/>
                </a:lnTo>
                <a:cubicBezTo>
                  <a:pt x="99258" y="55920"/>
                  <a:pt x="91202" y="55920"/>
                  <a:pt x="86241" y="60881"/>
                </a:cubicBezTo>
                <a:lnTo>
                  <a:pt x="48141" y="98981"/>
                </a:lnTo>
                <a:cubicBezTo>
                  <a:pt x="43180" y="103942"/>
                  <a:pt x="43180" y="111998"/>
                  <a:pt x="48141" y="116959"/>
                </a:cubicBezTo>
                <a:cubicBezTo>
                  <a:pt x="53102" y="121920"/>
                  <a:pt x="61158" y="121920"/>
                  <a:pt x="66119" y="116959"/>
                </a:cubicBezTo>
                <a:lnTo>
                  <a:pt x="95250" y="87828"/>
                </a:lnTo>
                <a:lnTo>
                  <a:pt x="118031" y="110609"/>
                </a:lnTo>
                <a:cubicBezTo>
                  <a:pt x="122992" y="115570"/>
                  <a:pt x="131048" y="115570"/>
                  <a:pt x="136009" y="110609"/>
                </a:cubicBezTo>
                <a:lnTo>
                  <a:pt x="186809" y="59809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8" name="Text 5"/>
          <p:cNvSpPr/>
          <p:nvPr/>
        </p:nvSpPr>
        <p:spPr>
          <a:xfrm>
            <a:off x="1425960" y="3835400"/>
            <a:ext cx="8022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 метрик времени выполнения для анализа эффективности.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82469" y="4800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0540" y="76200"/>
                </a:moveTo>
                <a:lnTo>
                  <a:pt x="193675" y="76200"/>
                </a:lnTo>
                <a:cubicBezTo>
                  <a:pt x="198953" y="76200"/>
                  <a:pt x="203200" y="71953"/>
                  <a:pt x="203200" y="66675"/>
                </a:cubicBezTo>
                <a:lnTo>
                  <a:pt x="203200" y="9525"/>
                </a:lnTo>
                <a:cubicBezTo>
                  <a:pt x="203200" y="5675"/>
                  <a:pt x="200898" y="2183"/>
                  <a:pt x="197326" y="714"/>
                </a:cubicBezTo>
                <a:cubicBezTo>
                  <a:pt x="193754" y="-754"/>
                  <a:pt x="189667" y="79"/>
                  <a:pt x="186928" y="2778"/>
                </a:cubicBezTo>
                <a:lnTo>
                  <a:pt x="166410" y="23336"/>
                </a:lnTo>
                <a:cubicBezTo>
                  <a:pt x="148828" y="8771"/>
                  <a:pt x="126206" y="0"/>
                  <a:pt x="101600" y="0"/>
                </a:cubicBezTo>
                <a:cubicBezTo>
                  <a:pt x="50403" y="0"/>
                  <a:pt x="8057" y="37862"/>
                  <a:pt x="1032" y="87114"/>
                </a:cubicBezTo>
                <a:cubicBezTo>
                  <a:pt x="40" y="94059"/>
                  <a:pt x="4842" y="100489"/>
                  <a:pt x="11787" y="101481"/>
                </a:cubicBezTo>
                <a:cubicBezTo>
                  <a:pt x="18733" y="102473"/>
                  <a:pt x="25162" y="97631"/>
                  <a:pt x="26154" y="90726"/>
                </a:cubicBezTo>
                <a:cubicBezTo>
                  <a:pt x="31433" y="53777"/>
                  <a:pt x="63222" y="25400"/>
                  <a:pt x="101600" y="25400"/>
                </a:cubicBezTo>
                <a:cubicBezTo>
                  <a:pt x="119221" y="25400"/>
                  <a:pt x="135414" y="31353"/>
                  <a:pt x="148312" y="41394"/>
                </a:cubicBezTo>
                <a:lnTo>
                  <a:pt x="129778" y="59928"/>
                </a:lnTo>
                <a:cubicBezTo>
                  <a:pt x="127040" y="62667"/>
                  <a:pt x="126246" y="66754"/>
                  <a:pt x="127714" y="70326"/>
                </a:cubicBezTo>
                <a:cubicBezTo>
                  <a:pt x="129183" y="73898"/>
                  <a:pt x="132675" y="76200"/>
                  <a:pt x="136525" y="76200"/>
                </a:cubicBezTo>
                <a:lnTo>
                  <a:pt x="190540" y="76200"/>
                </a:lnTo>
                <a:close/>
                <a:moveTo>
                  <a:pt x="202208" y="116086"/>
                </a:moveTo>
                <a:cubicBezTo>
                  <a:pt x="203200" y="109141"/>
                  <a:pt x="198358" y="102711"/>
                  <a:pt x="191452" y="101719"/>
                </a:cubicBezTo>
                <a:cubicBezTo>
                  <a:pt x="184547" y="100727"/>
                  <a:pt x="178078" y="105569"/>
                  <a:pt x="177086" y="112474"/>
                </a:cubicBezTo>
                <a:cubicBezTo>
                  <a:pt x="171807" y="149384"/>
                  <a:pt x="140017" y="177760"/>
                  <a:pt x="101640" y="177760"/>
                </a:cubicBezTo>
                <a:cubicBezTo>
                  <a:pt x="84018" y="177760"/>
                  <a:pt x="67826" y="171807"/>
                  <a:pt x="54928" y="161766"/>
                </a:cubicBezTo>
                <a:lnTo>
                  <a:pt x="73422" y="143272"/>
                </a:lnTo>
                <a:cubicBezTo>
                  <a:pt x="76160" y="140533"/>
                  <a:pt x="76954" y="136446"/>
                  <a:pt x="75486" y="132874"/>
                </a:cubicBezTo>
                <a:cubicBezTo>
                  <a:pt x="74017" y="129302"/>
                  <a:pt x="70525" y="127000"/>
                  <a:pt x="66675" y="127000"/>
                </a:cubicBezTo>
                <a:lnTo>
                  <a:pt x="9525" y="127000"/>
                </a:lnTo>
                <a:cubicBezTo>
                  <a:pt x="4247" y="127000"/>
                  <a:pt x="0" y="131247"/>
                  <a:pt x="0" y="136525"/>
                </a:cubicBezTo>
                <a:lnTo>
                  <a:pt x="0" y="193675"/>
                </a:lnTo>
                <a:cubicBezTo>
                  <a:pt x="0" y="197525"/>
                  <a:pt x="2302" y="201017"/>
                  <a:pt x="5874" y="202486"/>
                </a:cubicBezTo>
                <a:cubicBezTo>
                  <a:pt x="9446" y="203954"/>
                  <a:pt x="13533" y="203121"/>
                  <a:pt x="16272" y="200422"/>
                </a:cubicBezTo>
                <a:lnTo>
                  <a:pt x="36830" y="179864"/>
                </a:lnTo>
                <a:cubicBezTo>
                  <a:pt x="54372" y="194429"/>
                  <a:pt x="76994" y="203200"/>
                  <a:pt x="101600" y="203200"/>
                </a:cubicBezTo>
                <a:cubicBezTo>
                  <a:pt x="152797" y="203200"/>
                  <a:pt x="195143" y="165338"/>
                  <a:pt x="202168" y="116086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0" name="Text 7"/>
          <p:cNvSpPr/>
          <p:nvPr/>
        </p:nvSpPr>
        <p:spPr>
          <a:xfrm>
            <a:off x="1385281" y="4597400"/>
            <a:ext cx="880230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Автоматическое обновление статусов задач при переходе по фазам RUP.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62824" y="55626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2" name="Text 9"/>
          <p:cNvSpPr/>
          <p:nvPr/>
        </p:nvSpPr>
        <p:spPr>
          <a:xfrm>
            <a:off x="1396988" y="5359400"/>
            <a:ext cx="107950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Вовлечение удалённых тестировщиков и заказчиков через веб-доступ.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8034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RequisitePro: Развитие требований и трассируемость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68400" y="2463800"/>
            <a:ext cx="985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IBM Rational RequisitePro обеспечивает хранение требований в базе данных с возможностью импорта из текстовых документов и обратной синхронизацией.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032000" y="34798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76200" y="0"/>
                </a:moveTo>
                <a:cubicBezTo>
                  <a:pt x="34171" y="0"/>
                  <a:pt x="0" y="34171"/>
                  <a:pt x="0" y="76200"/>
                </a:cubicBezTo>
                <a:lnTo>
                  <a:pt x="0" y="361950"/>
                </a:lnTo>
                <a:lnTo>
                  <a:pt x="216813" y="361950"/>
                </a:lnTo>
                <a:lnTo>
                  <a:pt x="179903" y="325041"/>
                </a:lnTo>
                <a:cubicBezTo>
                  <a:pt x="168712" y="313849"/>
                  <a:pt x="168712" y="295751"/>
                  <a:pt x="179903" y="284678"/>
                </a:cubicBezTo>
                <a:cubicBezTo>
                  <a:pt x="191095" y="273606"/>
                  <a:pt x="209193" y="273487"/>
                  <a:pt x="220266" y="284678"/>
                </a:cubicBezTo>
                <a:lnTo>
                  <a:pt x="305991" y="370403"/>
                </a:lnTo>
                <a:cubicBezTo>
                  <a:pt x="317183" y="381595"/>
                  <a:pt x="317183" y="399693"/>
                  <a:pt x="305991" y="410766"/>
                </a:cubicBezTo>
                <a:lnTo>
                  <a:pt x="220266" y="496491"/>
                </a:lnTo>
                <a:cubicBezTo>
                  <a:pt x="209074" y="507683"/>
                  <a:pt x="190976" y="507683"/>
                  <a:pt x="179903" y="496491"/>
                </a:cubicBezTo>
                <a:cubicBezTo>
                  <a:pt x="168831" y="485299"/>
                  <a:pt x="168712" y="467201"/>
                  <a:pt x="179903" y="456128"/>
                </a:cubicBezTo>
                <a:lnTo>
                  <a:pt x="216813" y="419219"/>
                </a:lnTo>
                <a:lnTo>
                  <a:pt x="0" y="419219"/>
                </a:lnTo>
                <a:lnTo>
                  <a:pt x="0" y="533519"/>
                </a:lnTo>
                <a:cubicBezTo>
                  <a:pt x="0" y="575548"/>
                  <a:pt x="34171" y="609719"/>
                  <a:pt x="76200" y="609719"/>
                </a:cubicBezTo>
                <a:lnTo>
                  <a:pt x="381000" y="609719"/>
                </a:lnTo>
                <a:cubicBezTo>
                  <a:pt x="423029" y="609719"/>
                  <a:pt x="457200" y="575548"/>
                  <a:pt x="457200" y="533519"/>
                </a:cubicBezTo>
                <a:lnTo>
                  <a:pt x="457200" y="203121"/>
                </a:lnTo>
                <a:cubicBezTo>
                  <a:pt x="457200" y="182880"/>
                  <a:pt x="449223" y="163473"/>
                  <a:pt x="434935" y="149185"/>
                </a:cubicBezTo>
                <a:lnTo>
                  <a:pt x="308015" y="22265"/>
                </a:lnTo>
                <a:cubicBezTo>
                  <a:pt x="293727" y="7977"/>
                  <a:pt x="274439" y="0"/>
                  <a:pt x="254198" y="0"/>
                </a:cubicBezTo>
                <a:lnTo>
                  <a:pt x="76200" y="0"/>
                </a:lnTo>
                <a:close/>
                <a:moveTo>
                  <a:pt x="387548" y="209550"/>
                </a:moveTo>
                <a:lnTo>
                  <a:pt x="276225" y="209550"/>
                </a:lnTo>
                <a:cubicBezTo>
                  <a:pt x="260390" y="209550"/>
                  <a:pt x="247650" y="196810"/>
                  <a:pt x="247650" y="180975"/>
                </a:cubicBezTo>
                <a:lnTo>
                  <a:pt x="247650" y="69652"/>
                </a:lnTo>
                <a:lnTo>
                  <a:pt x="387548" y="20955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6" name="Text 3"/>
          <p:cNvSpPr/>
          <p:nvPr/>
        </p:nvSpPr>
        <p:spPr>
          <a:xfrm>
            <a:off x="1061442" y="424180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Импорт из документов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6450" y="4546600"/>
            <a:ext cx="290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Возможность импорта требований из текстовых файлов.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73500" y="39624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29300" y="34798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0" name="Text 7"/>
          <p:cNvSpPr/>
          <p:nvPr/>
        </p:nvSpPr>
        <p:spPr>
          <a:xfrm>
            <a:off x="5396309" y="42418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База данных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41850" y="4546600"/>
            <a:ext cx="290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Централизованное хранение требований с версионированием.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08900" y="39624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626600" y="3479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28600" y="76200"/>
                </a:moveTo>
                <a:cubicBezTo>
                  <a:pt x="228600" y="55126"/>
                  <a:pt x="245626" y="38100"/>
                  <a:pt x="266700" y="38100"/>
                </a:cubicBezTo>
                <a:lnTo>
                  <a:pt x="342900" y="38100"/>
                </a:lnTo>
                <a:cubicBezTo>
                  <a:pt x="363974" y="38100"/>
                  <a:pt x="381000" y="55126"/>
                  <a:pt x="381000" y="76200"/>
                </a:cubicBezTo>
                <a:lnTo>
                  <a:pt x="381000" y="152400"/>
                </a:lnTo>
                <a:cubicBezTo>
                  <a:pt x="381000" y="173474"/>
                  <a:pt x="363974" y="190500"/>
                  <a:pt x="342900" y="190500"/>
                </a:cubicBezTo>
                <a:lnTo>
                  <a:pt x="333375" y="190500"/>
                </a:lnTo>
                <a:lnTo>
                  <a:pt x="333375" y="266700"/>
                </a:lnTo>
                <a:lnTo>
                  <a:pt x="476250" y="266700"/>
                </a:lnTo>
                <a:cubicBezTo>
                  <a:pt x="523637" y="266700"/>
                  <a:pt x="561975" y="305038"/>
                  <a:pt x="561975" y="352425"/>
                </a:cubicBezTo>
                <a:lnTo>
                  <a:pt x="561975" y="419100"/>
                </a:lnTo>
                <a:lnTo>
                  <a:pt x="571500" y="419100"/>
                </a:lnTo>
                <a:cubicBezTo>
                  <a:pt x="592574" y="419100"/>
                  <a:pt x="609600" y="436126"/>
                  <a:pt x="609600" y="457200"/>
                </a:cubicBezTo>
                <a:lnTo>
                  <a:pt x="609600" y="533400"/>
                </a:lnTo>
                <a:cubicBezTo>
                  <a:pt x="609600" y="554474"/>
                  <a:pt x="592574" y="571500"/>
                  <a:pt x="571500" y="571500"/>
                </a:cubicBezTo>
                <a:lnTo>
                  <a:pt x="495300" y="571500"/>
                </a:lnTo>
                <a:cubicBezTo>
                  <a:pt x="474226" y="571500"/>
                  <a:pt x="457200" y="554474"/>
                  <a:pt x="457200" y="533400"/>
                </a:cubicBezTo>
                <a:lnTo>
                  <a:pt x="457200" y="457200"/>
                </a:lnTo>
                <a:cubicBezTo>
                  <a:pt x="457200" y="436126"/>
                  <a:pt x="474226" y="419100"/>
                  <a:pt x="495300" y="419100"/>
                </a:cubicBezTo>
                <a:lnTo>
                  <a:pt x="504825" y="419100"/>
                </a:lnTo>
                <a:lnTo>
                  <a:pt x="504825" y="352425"/>
                </a:lnTo>
                <a:cubicBezTo>
                  <a:pt x="504825" y="336590"/>
                  <a:pt x="492085" y="323850"/>
                  <a:pt x="476250" y="323850"/>
                </a:cubicBezTo>
                <a:lnTo>
                  <a:pt x="333375" y="323850"/>
                </a:lnTo>
                <a:lnTo>
                  <a:pt x="333375" y="419100"/>
                </a:lnTo>
                <a:lnTo>
                  <a:pt x="342900" y="419100"/>
                </a:lnTo>
                <a:cubicBezTo>
                  <a:pt x="363974" y="419100"/>
                  <a:pt x="381000" y="436126"/>
                  <a:pt x="381000" y="457200"/>
                </a:cubicBezTo>
                <a:lnTo>
                  <a:pt x="381000" y="533400"/>
                </a:lnTo>
                <a:cubicBezTo>
                  <a:pt x="381000" y="554474"/>
                  <a:pt x="363974" y="571500"/>
                  <a:pt x="342900" y="571500"/>
                </a:cubicBezTo>
                <a:lnTo>
                  <a:pt x="266700" y="571500"/>
                </a:lnTo>
                <a:cubicBezTo>
                  <a:pt x="245626" y="571500"/>
                  <a:pt x="228600" y="554474"/>
                  <a:pt x="228600" y="533400"/>
                </a:cubicBezTo>
                <a:lnTo>
                  <a:pt x="228600" y="457200"/>
                </a:lnTo>
                <a:cubicBezTo>
                  <a:pt x="228600" y="436126"/>
                  <a:pt x="245626" y="419100"/>
                  <a:pt x="266700" y="419100"/>
                </a:cubicBezTo>
                <a:lnTo>
                  <a:pt x="276225" y="419100"/>
                </a:lnTo>
                <a:lnTo>
                  <a:pt x="276225" y="323850"/>
                </a:lnTo>
                <a:lnTo>
                  <a:pt x="133350" y="323850"/>
                </a:lnTo>
                <a:cubicBezTo>
                  <a:pt x="117515" y="323850"/>
                  <a:pt x="104775" y="336590"/>
                  <a:pt x="104775" y="352425"/>
                </a:cubicBezTo>
                <a:lnTo>
                  <a:pt x="104775" y="419100"/>
                </a:lnTo>
                <a:lnTo>
                  <a:pt x="114300" y="419100"/>
                </a:lnTo>
                <a:cubicBezTo>
                  <a:pt x="135374" y="419100"/>
                  <a:pt x="152400" y="436126"/>
                  <a:pt x="152400" y="457200"/>
                </a:cubicBezTo>
                <a:lnTo>
                  <a:pt x="152400" y="533400"/>
                </a:lnTo>
                <a:cubicBezTo>
                  <a:pt x="152400" y="554474"/>
                  <a:pt x="135374" y="571500"/>
                  <a:pt x="114300" y="571500"/>
                </a:cubicBezTo>
                <a:lnTo>
                  <a:pt x="38100" y="571500"/>
                </a:lnTo>
                <a:cubicBezTo>
                  <a:pt x="17026" y="571500"/>
                  <a:pt x="0" y="554474"/>
                  <a:pt x="0" y="533400"/>
                </a:cubicBezTo>
                <a:lnTo>
                  <a:pt x="0" y="457200"/>
                </a:lnTo>
                <a:cubicBezTo>
                  <a:pt x="0" y="436126"/>
                  <a:pt x="17026" y="419100"/>
                  <a:pt x="38100" y="419100"/>
                </a:cubicBezTo>
                <a:lnTo>
                  <a:pt x="47625" y="419100"/>
                </a:lnTo>
                <a:lnTo>
                  <a:pt x="47625" y="352425"/>
                </a:lnTo>
                <a:cubicBezTo>
                  <a:pt x="47625" y="305038"/>
                  <a:pt x="85963" y="266700"/>
                  <a:pt x="133350" y="266700"/>
                </a:cubicBezTo>
                <a:lnTo>
                  <a:pt x="276225" y="266700"/>
                </a:lnTo>
                <a:lnTo>
                  <a:pt x="276225" y="190500"/>
                </a:lnTo>
                <a:lnTo>
                  <a:pt x="266700" y="190500"/>
                </a:lnTo>
                <a:cubicBezTo>
                  <a:pt x="245626" y="190500"/>
                  <a:pt x="228600" y="173474"/>
                  <a:pt x="228600" y="152400"/>
                </a:cubicBezTo>
                <a:lnTo>
                  <a:pt x="228600" y="7620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4" name="Text 11"/>
          <p:cNvSpPr/>
          <p:nvPr/>
        </p:nvSpPr>
        <p:spPr>
          <a:xfrm>
            <a:off x="9043392" y="4241800"/>
            <a:ext cx="177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Трассируемость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77250" y="4546600"/>
            <a:ext cx="290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Анализ влияния изменений и автоматическое оповещение.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540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Плюсы и Минусы RUP как Веб-Системы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168400"/>
            <a:ext cx="0" cy="5435600"/>
          </a:xfrm>
          <a:prstGeom prst="line">
            <a:avLst/>
          </a:prstGeom>
          <a:noFill/>
          <a:ln w="50800">
            <a:solidFill>
              <a:srgbClr val="007B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254000" y="1168400"/>
            <a:ext cx="5588000" cy="5435600"/>
          </a:xfrm>
          <a:custGeom>
            <a:avLst/>
            <a:gdLst/>
            <a:ahLst/>
            <a:cxnLst/>
            <a:rect l="l" t="t" r="r" b="b"/>
            <a:pathLst>
              <a:path w="5588000" h="5435600">
                <a:moveTo>
                  <a:pt x="0" y="0"/>
                </a:moveTo>
                <a:lnTo>
                  <a:pt x="5486409" y="0"/>
                </a:lnTo>
                <a:cubicBezTo>
                  <a:pt x="5542516" y="0"/>
                  <a:pt x="5588000" y="45484"/>
                  <a:pt x="5588000" y="101591"/>
                </a:cubicBezTo>
                <a:lnTo>
                  <a:pt x="5588000" y="5334009"/>
                </a:lnTo>
                <a:cubicBezTo>
                  <a:pt x="5588000" y="5390116"/>
                  <a:pt x="5542516" y="5435600"/>
                  <a:pt x="5486409" y="5435600"/>
                </a:cubicBezTo>
                <a:lnTo>
                  <a:pt x="0" y="5435600"/>
                </a:lnTo>
                <a:lnTo>
                  <a:pt x="0" y="0"/>
                </a:ln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47700" y="152399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8113" y="204787"/>
                </a:moveTo>
                <a:lnTo>
                  <a:pt x="138113" y="166688"/>
                </a:lnTo>
                <a:lnTo>
                  <a:pt x="100013" y="166688"/>
                </a:lnTo>
                <a:cubicBezTo>
                  <a:pt x="92095" y="166688"/>
                  <a:pt x="85725" y="160318"/>
                  <a:pt x="85725" y="152400"/>
                </a:cubicBezTo>
                <a:cubicBezTo>
                  <a:pt x="85725" y="144482"/>
                  <a:pt x="92095" y="138113"/>
                  <a:pt x="100013" y="138113"/>
                </a:cubicBezTo>
                <a:lnTo>
                  <a:pt x="138113" y="138113"/>
                </a:lnTo>
                <a:lnTo>
                  <a:pt x="138113" y="100013"/>
                </a:lnTo>
                <a:cubicBezTo>
                  <a:pt x="138113" y="92095"/>
                  <a:pt x="144482" y="85725"/>
                  <a:pt x="152400" y="85725"/>
                </a:cubicBezTo>
                <a:cubicBezTo>
                  <a:pt x="160318" y="85725"/>
                  <a:pt x="166688" y="92095"/>
                  <a:pt x="166688" y="100013"/>
                </a:cubicBezTo>
                <a:lnTo>
                  <a:pt x="166688" y="138113"/>
                </a:lnTo>
                <a:lnTo>
                  <a:pt x="204787" y="138113"/>
                </a:lnTo>
                <a:cubicBezTo>
                  <a:pt x="212705" y="138113"/>
                  <a:pt x="219075" y="144482"/>
                  <a:pt x="219075" y="152400"/>
                </a:cubicBezTo>
                <a:cubicBezTo>
                  <a:pt x="219075" y="160318"/>
                  <a:pt x="212705" y="166688"/>
                  <a:pt x="204787" y="166688"/>
                </a:cubicBezTo>
                <a:lnTo>
                  <a:pt x="166688" y="166688"/>
                </a:lnTo>
                <a:lnTo>
                  <a:pt x="166688" y="204787"/>
                </a:lnTo>
                <a:cubicBezTo>
                  <a:pt x="166688" y="212705"/>
                  <a:pt x="160318" y="219075"/>
                  <a:pt x="152400" y="219075"/>
                </a:cubicBezTo>
                <a:cubicBezTo>
                  <a:pt x="144482" y="219075"/>
                  <a:pt x="138113" y="212705"/>
                  <a:pt x="138113" y="204787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1473200"/>
            <a:ext cx="4597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Преимущества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600" y="2082797"/>
            <a:ext cx="5080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Быстрый доступ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без установки клиентов.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Централизованное обновление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знаний.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Удобная совместная работа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распределённых команд.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Интеграция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инструментами, снижение барьеров.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Прозрачность проекта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для руководства.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99200" y="1168400"/>
            <a:ext cx="0" cy="5435600"/>
          </a:xfrm>
          <a:prstGeom prst="line">
            <a:avLst/>
          </a:prstGeom>
          <a:noFill/>
          <a:ln w="50800">
            <a:solidFill>
              <a:srgbClr val="DC3545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6299200" y="1168400"/>
            <a:ext cx="5588000" cy="5435600"/>
          </a:xfrm>
          <a:custGeom>
            <a:avLst/>
            <a:gdLst/>
            <a:ahLst/>
            <a:cxnLst/>
            <a:rect l="l" t="t" r="r" b="b"/>
            <a:pathLst>
              <a:path w="5588000" h="5435600">
                <a:moveTo>
                  <a:pt x="0" y="0"/>
                </a:moveTo>
                <a:lnTo>
                  <a:pt x="5486409" y="0"/>
                </a:lnTo>
                <a:cubicBezTo>
                  <a:pt x="5542516" y="0"/>
                  <a:pt x="5588000" y="45484"/>
                  <a:pt x="5588000" y="101591"/>
                </a:cubicBezTo>
                <a:lnTo>
                  <a:pt x="5588000" y="5334009"/>
                </a:lnTo>
                <a:cubicBezTo>
                  <a:pt x="5588000" y="5390116"/>
                  <a:pt x="5542516" y="5435600"/>
                  <a:pt x="5486409" y="5435600"/>
                </a:cubicBezTo>
                <a:lnTo>
                  <a:pt x="0" y="5435600"/>
                </a:lnTo>
                <a:lnTo>
                  <a:pt x="0" y="0"/>
                </a:lnTo>
                <a:close/>
              </a:path>
            </a:pathLst>
          </a:custGeom>
          <a:solidFill>
            <a:srgbClr val="DC3545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692900" y="152399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00013" y="138113"/>
                </a:moveTo>
                <a:lnTo>
                  <a:pt x="204787" y="138113"/>
                </a:lnTo>
                <a:cubicBezTo>
                  <a:pt x="212705" y="138113"/>
                  <a:pt x="219075" y="144482"/>
                  <a:pt x="219075" y="152400"/>
                </a:cubicBezTo>
                <a:cubicBezTo>
                  <a:pt x="219075" y="160318"/>
                  <a:pt x="212705" y="166688"/>
                  <a:pt x="204787" y="166688"/>
                </a:cubicBezTo>
                <a:lnTo>
                  <a:pt x="100013" y="166688"/>
                </a:lnTo>
                <a:cubicBezTo>
                  <a:pt x="92095" y="166688"/>
                  <a:pt x="85725" y="160318"/>
                  <a:pt x="85725" y="152400"/>
                </a:cubicBezTo>
                <a:cubicBezTo>
                  <a:pt x="85725" y="144482"/>
                  <a:pt x="92095" y="138113"/>
                  <a:pt x="100013" y="138113"/>
                </a:cubicBezTo>
                <a:close/>
              </a:path>
            </a:pathLst>
          </a:custGeom>
          <a:solidFill>
            <a:srgbClr val="DC3545"/>
          </a:solidFill>
          <a:ln/>
        </p:spPr>
      </p:sp>
      <p:sp>
        <p:nvSpPr>
          <p:cNvPr id="12" name="Text 9"/>
          <p:cNvSpPr/>
          <p:nvPr/>
        </p:nvSpPr>
        <p:spPr>
          <a:xfrm>
            <a:off x="7188200" y="1473200"/>
            <a:ext cx="4597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C35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Недостатки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54800" y="2082797"/>
            <a:ext cx="5080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Веб-интерфейс может быть </a:t>
            </a: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медленным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Требуется </a:t>
            </a: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стабильный канал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связи.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Ограниченный </a:t>
            </a: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offline-доступ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Настройка требует </a:t>
            </a: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высокой зрелости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команды.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Лицензионные издержки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могут быть высоки.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50877" y="927100"/>
            <a:ext cx="769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Сводная </a:t>
            </a:r>
            <a:r>
              <a:rPr lang="en-US" sz="3600" b="1" dirty="0" err="1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архитектура</a:t>
            </a:r>
            <a:r>
              <a:rPr lang="en-US" sz="3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RUP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62050" y="1638300"/>
            <a:ext cx="98679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Объединение подсистем в единую веб-среду превращает RUP в живую экосистему, где процесс, артефакты и метрики находятся в одном информационном пространстве.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03300" y="2882900"/>
            <a:ext cx="2921000" cy="1600200"/>
          </a:xfrm>
          <a:custGeom>
            <a:avLst/>
            <a:gdLst/>
            <a:ahLst/>
            <a:cxnLst/>
            <a:rect l="l" t="t" r="r" b="b"/>
            <a:pathLst>
              <a:path w="2921000" h="1600200">
                <a:moveTo>
                  <a:pt x="101597" y="0"/>
                </a:moveTo>
                <a:lnTo>
                  <a:pt x="2819403" y="0"/>
                </a:lnTo>
                <a:cubicBezTo>
                  <a:pt x="2875514" y="0"/>
                  <a:pt x="2921000" y="45486"/>
                  <a:pt x="2921000" y="101597"/>
                </a:cubicBezTo>
                <a:lnTo>
                  <a:pt x="2921000" y="1498603"/>
                </a:lnTo>
                <a:cubicBezTo>
                  <a:pt x="2921000" y="1554714"/>
                  <a:pt x="2875514" y="1600200"/>
                  <a:pt x="2819403" y="1600200"/>
                </a:cubicBezTo>
                <a:lnTo>
                  <a:pt x="101597" y="1600200"/>
                </a:lnTo>
                <a:cubicBezTo>
                  <a:pt x="45486" y="1600200"/>
                  <a:pt x="0" y="1554714"/>
                  <a:pt x="0" y="14986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228850" y="30353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66688"/>
                </a:moveTo>
                <a:cubicBezTo>
                  <a:pt x="280838" y="166688"/>
                  <a:pt x="315516" y="132010"/>
                  <a:pt x="315516" y="89297"/>
                </a:cubicBezTo>
                <a:cubicBezTo>
                  <a:pt x="315516" y="46584"/>
                  <a:pt x="280838" y="11906"/>
                  <a:pt x="238125" y="11906"/>
                </a:cubicBezTo>
                <a:cubicBezTo>
                  <a:pt x="195412" y="11906"/>
                  <a:pt x="160734" y="46584"/>
                  <a:pt x="160734" y="89297"/>
                </a:cubicBezTo>
                <a:cubicBezTo>
                  <a:pt x="160734" y="132010"/>
                  <a:pt x="195412" y="166688"/>
                  <a:pt x="238125" y="166688"/>
                </a:cubicBezTo>
                <a:close/>
                <a:moveTo>
                  <a:pt x="71438" y="172641"/>
                </a:moveTo>
                <a:cubicBezTo>
                  <a:pt x="101008" y="172641"/>
                  <a:pt x="125016" y="148633"/>
                  <a:pt x="125016" y="119063"/>
                </a:cubicBezTo>
                <a:cubicBezTo>
                  <a:pt x="125016" y="89492"/>
                  <a:pt x="101008" y="65484"/>
                  <a:pt x="71438" y="65484"/>
                </a:cubicBezTo>
                <a:cubicBezTo>
                  <a:pt x="41867" y="65484"/>
                  <a:pt x="17859" y="89492"/>
                  <a:pt x="17859" y="119063"/>
                </a:cubicBezTo>
                <a:cubicBezTo>
                  <a:pt x="17859" y="148633"/>
                  <a:pt x="41867" y="172641"/>
                  <a:pt x="71437" y="172641"/>
                </a:cubicBezTo>
                <a:close/>
                <a:moveTo>
                  <a:pt x="0" y="309563"/>
                </a:moveTo>
                <a:lnTo>
                  <a:pt x="0" y="333375"/>
                </a:lnTo>
                <a:cubicBezTo>
                  <a:pt x="0" y="346546"/>
                  <a:pt x="10641" y="357188"/>
                  <a:pt x="23812" y="357188"/>
                </a:cubicBezTo>
                <a:lnTo>
                  <a:pt x="88329" y="357188"/>
                </a:lnTo>
                <a:cubicBezTo>
                  <a:pt x="85130" y="349895"/>
                  <a:pt x="83344" y="341858"/>
                  <a:pt x="83344" y="333375"/>
                </a:cubicBezTo>
                <a:lnTo>
                  <a:pt x="83344" y="321469"/>
                </a:lnTo>
                <a:cubicBezTo>
                  <a:pt x="83344" y="281880"/>
                  <a:pt x="98227" y="245715"/>
                  <a:pt x="122709" y="218331"/>
                </a:cubicBezTo>
                <a:cubicBezTo>
                  <a:pt x="114002" y="215726"/>
                  <a:pt x="104775" y="214313"/>
                  <a:pt x="95250" y="214313"/>
                </a:cubicBezTo>
                <a:cubicBezTo>
                  <a:pt x="42639" y="214313"/>
                  <a:pt x="0" y="256952"/>
                  <a:pt x="0" y="309563"/>
                </a:cubicBezTo>
                <a:close/>
                <a:moveTo>
                  <a:pt x="458391" y="119063"/>
                </a:moveTo>
                <a:cubicBezTo>
                  <a:pt x="458391" y="89492"/>
                  <a:pt x="434383" y="65484"/>
                  <a:pt x="404813" y="65484"/>
                </a:cubicBezTo>
                <a:cubicBezTo>
                  <a:pt x="375242" y="65484"/>
                  <a:pt x="351234" y="89492"/>
                  <a:pt x="351234" y="119063"/>
                </a:cubicBezTo>
                <a:cubicBezTo>
                  <a:pt x="351234" y="148633"/>
                  <a:pt x="375242" y="172641"/>
                  <a:pt x="404813" y="172641"/>
                </a:cubicBezTo>
                <a:cubicBezTo>
                  <a:pt x="434383" y="172641"/>
                  <a:pt x="458391" y="148633"/>
                  <a:pt x="458391" y="119063"/>
                </a:cubicBezTo>
                <a:close/>
                <a:moveTo>
                  <a:pt x="119063" y="321469"/>
                </a:moveTo>
                <a:lnTo>
                  <a:pt x="119063" y="333375"/>
                </a:lnTo>
                <a:cubicBezTo>
                  <a:pt x="119063" y="346546"/>
                  <a:pt x="129704" y="357188"/>
                  <a:pt x="142875" y="357188"/>
                </a:cubicBezTo>
                <a:lnTo>
                  <a:pt x="259556" y="357188"/>
                </a:lnTo>
                <a:cubicBezTo>
                  <a:pt x="254273" y="341114"/>
                  <a:pt x="254868" y="324148"/>
                  <a:pt x="267519" y="309563"/>
                </a:cubicBezTo>
                <a:cubicBezTo>
                  <a:pt x="257101" y="297507"/>
                  <a:pt x="252264" y="280020"/>
                  <a:pt x="259035" y="262458"/>
                </a:cubicBezTo>
                <a:cubicBezTo>
                  <a:pt x="263947" y="249734"/>
                  <a:pt x="270867" y="237827"/>
                  <a:pt x="279425" y="227261"/>
                </a:cubicBezTo>
                <a:cubicBezTo>
                  <a:pt x="283443" y="222349"/>
                  <a:pt x="288057" y="218554"/>
                  <a:pt x="293043" y="215801"/>
                </a:cubicBezTo>
                <a:cubicBezTo>
                  <a:pt x="276597" y="207243"/>
                  <a:pt x="257919" y="202406"/>
                  <a:pt x="238125" y="202406"/>
                </a:cubicBezTo>
                <a:cubicBezTo>
                  <a:pt x="172343" y="202406"/>
                  <a:pt x="119063" y="255687"/>
                  <a:pt x="119063" y="321469"/>
                </a:cubicBezTo>
                <a:close/>
                <a:moveTo>
                  <a:pt x="464790" y="288652"/>
                </a:moveTo>
                <a:cubicBezTo>
                  <a:pt x="469478" y="285973"/>
                  <a:pt x="471860" y="280392"/>
                  <a:pt x="469850" y="275258"/>
                </a:cubicBezTo>
                <a:cubicBezTo>
                  <a:pt x="466279" y="266030"/>
                  <a:pt x="461293" y="257324"/>
                  <a:pt x="455042" y="249659"/>
                </a:cubicBezTo>
                <a:cubicBezTo>
                  <a:pt x="451619" y="245418"/>
                  <a:pt x="445591" y="244673"/>
                  <a:pt x="440903" y="247427"/>
                </a:cubicBezTo>
                <a:cubicBezTo>
                  <a:pt x="424681" y="256803"/>
                  <a:pt x="404738" y="245343"/>
                  <a:pt x="404738" y="226516"/>
                </a:cubicBezTo>
                <a:cubicBezTo>
                  <a:pt x="404738" y="221084"/>
                  <a:pt x="401092" y="216247"/>
                  <a:pt x="395734" y="215429"/>
                </a:cubicBezTo>
                <a:cubicBezTo>
                  <a:pt x="386135" y="213940"/>
                  <a:pt x="375791" y="213940"/>
                  <a:pt x="366192" y="215429"/>
                </a:cubicBezTo>
                <a:cubicBezTo>
                  <a:pt x="360834" y="216247"/>
                  <a:pt x="357187" y="221084"/>
                  <a:pt x="357187" y="226516"/>
                </a:cubicBezTo>
                <a:cubicBezTo>
                  <a:pt x="357187" y="245269"/>
                  <a:pt x="337245" y="256803"/>
                  <a:pt x="321022" y="247427"/>
                </a:cubicBezTo>
                <a:cubicBezTo>
                  <a:pt x="316334" y="244748"/>
                  <a:pt x="310307" y="245492"/>
                  <a:pt x="306884" y="249659"/>
                </a:cubicBezTo>
                <a:cubicBezTo>
                  <a:pt x="300633" y="257324"/>
                  <a:pt x="295647" y="266030"/>
                  <a:pt x="292075" y="275258"/>
                </a:cubicBezTo>
                <a:cubicBezTo>
                  <a:pt x="290140" y="280318"/>
                  <a:pt x="292447" y="285899"/>
                  <a:pt x="297135" y="288578"/>
                </a:cubicBezTo>
                <a:cubicBezTo>
                  <a:pt x="313432" y="297954"/>
                  <a:pt x="313432" y="320948"/>
                  <a:pt x="297135" y="330398"/>
                </a:cubicBezTo>
                <a:cubicBezTo>
                  <a:pt x="292447" y="333077"/>
                  <a:pt x="290066" y="338658"/>
                  <a:pt x="292075" y="343719"/>
                </a:cubicBezTo>
                <a:cubicBezTo>
                  <a:pt x="295647" y="352946"/>
                  <a:pt x="300633" y="361652"/>
                  <a:pt x="306884" y="369317"/>
                </a:cubicBezTo>
                <a:cubicBezTo>
                  <a:pt x="310307" y="373559"/>
                  <a:pt x="316334" y="374303"/>
                  <a:pt x="321022" y="371549"/>
                </a:cubicBezTo>
                <a:cubicBezTo>
                  <a:pt x="337245" y="362173"/>
                  <a:pt x="357187" y="373707"/>
                  <a:pt x="357187" y="392460"/>
                </a:cubicBezTo>
                <a:cubicBezTo>
                  <a:pt x="357187" y="397892"/>
                  <a:pt x="360834" y="402729"/>
                  <a:pt x="366192" y="403547"/>
                </a:cubicBezTo>
                <a:cubicBezTo>
                  <a:pt x="375791" y="405036"/>
                  <a:pt x="386135" y="405036"/>
                  <a:pt x="395734" y="403547"/>
                </a:cubicBezTo>
                <a:cubicBezTo>
                  <a:pt x="401092" y="402729"/>
                  <a:pt x="404738" y="397892"/>
                  <a:pt x="404738" y="392460"/>
                </a:cubicBezTo>
                <a:cubicBezTo>
                  <a:pt x="404738" y="373707"/>
                  <a:pt x="424681" y="362173"/>
                  <a:pt x="440903" y="371549"/>
                </a:cubicBezTo>
                <a:cubicBezTo>
                  <a:pt x="445591" y="374228"/>
                  <a:pt x="451619" y="373484"/>
                  <a:pt x="455042" y="369317"/>
                </a:cubicBezTo>
                <a:cubicBezTo>
                  <a:pt x="461293" y="361652"/>
                  <a:pt x="466279" y="352946"/>
                  <a:pt x="469850" y="343719"/>
                </a:cubicBezTo>
                <a:cubicBezTo>
                  <a:pt x="471785" y="338658"/>
                  <a:pt x="469478" y="333077"/>
                  <a:pt x="464790" y="330398"/>
                </a:cubicBezTo>
                <a:cubicBezTo>
                  <a:pt x="448494" y="321022"/>
                  <a:pt x="448494" y="298028"/>
                  <a:pt x="464790" y="288578"/>
                </a:cubicBezTo>
                <a:close/>
                <a:moveTo>
                  <a:pt x="351234" y="309563"/>
                </a:moveTo>
                <a:cubicBezTo>
                  <a:pt x="351234" y="293134"/>
                  <a:pt x="364572" y="279797"/>
                  <a:pt x="381000" y="279797"/>
                </a:cubicBezTo>
                <a:cubicBezTo>
                  <a:pt x="397428" y="279797"/>
                  <a:pt x="410766" y="293134"/>
                  <a:pt x="410766" y="309563"/>
                </a:cubicBezTo>
                <a:cubicBezTo>
                  <a:pt x="410766" y="325991"/>
                  <a:pt x="397428" y="339328"/>
                  <a:pt x="381000" y="339328"/>
                </a:cubicBezTo>
                <a:cubicBezTo>
                  <a:pt x="364572" y="339328"/>
                  <a:pt x="351234" y="325991"/>
                  <a:pt x="351234" y="309563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7" name="Text 4"/>
          <p:cNvSpPr/>
          <p:nvPr/>
        </p:nvSpPr>
        <p:spPr>
          <a:xfrm>
            <a:off x="1944489" y="3517900"/>
            <a:ext cx="104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Команды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1250" y="3822700"/>
            <a:ext cx="2705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Единая точка входа для всех этапов разработки.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51300" y="3479800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35500" y="2755900"/>
            <a:ext cx="2921000" cy="1854200"/>
          </a:xfrm>
          <a:custGeom>
            <a:avLst/>
            <a:gdLst/>
            <a:ahLst/>
            <a:cxnLst/>
            <a:rect l="l" t="t" r="r" b="b"/>
            <a:pathLst>
              <a:path w="2921000" h="1854200">
                <a:moveTo>
                  <a:pt x="101592" y="0"/>
                </a:moveTo>
                <a:lnTo>
                  <a:pt x="2819408" y="0"/>
                </a:lnTo>
                <a:cubicBezTo>
                  <a:pt x="2875516" y="0"/>
                  <a:pt x="2921000" y="45484"/>
                  <a:pt x="2921000" y="101592"/>
                </a:cubicBezTo>
                <a:lnTo>
                  <a:pt x="2921000" y="1752608"/>
                </a:lnTo>
                <a:cubicBezTo>
                  <a:pt x="2921000" y="1808716"/>
                  <a:pt x="2875516" y="1854200"/>
                  <a:pt x="2819408" y="1854200"/>
                </a:cubicBezTo>
                <a:lnTo>
                  <a:pt x="101592" y="1854200"/>
                </a:lnTo>
                <a:cubicBezTo>
                  <a:pt x="45484" y="1854200"/>
                  <a:pt x="0" y="1808716"/>
                  <a:pt x="0" y="17526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908675" y="290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214313" y="71438"/>
                </a:moveTo>
                <a:cubicBezTo>
                  <a:pt x="214313" y="58295"/>
                  <a:pt x="203642" y="47625"/>
                  <a:pt x="190500" y="47625"/>
                </a:cubicBezTo>
                <a:cubicBezTo>
                  <a:pt x="177358" y="47625"/>
                  <a:pt x="166688" y="58295"/>
                  <a:pt x="166688" y="71438"/>
                </a:cubicBezTo>
                <a:cubicBezTo>
                  <a:pt x="166688" y="84580"/>
                  <a:pt x="177358" y="95250"/>
                  <a:pt x="190500" y="95250"/>
                </a:cubicBezTo>
                <a:cubicBezTo>
                  <a:pt x="203642" y="95250"/>
                  <a:pt x="214313" y="84580"/>
                  <a:pt x="214313" y="71438"/>
                </a:cubicBezTo>
                <a:close/>
                <a:moveTo>
                  <a:pt x="190500" y="309563"/>
                </a:moveTo>
                <a:cubicBezTo>
                  <a:pt x="216768" y="309563"/>
                  <a:pt x="238125" y="288206"/>
                  <a:pt x="238125" y="261938"/>
                </a:cubicBezTo>
                <a:cubicBezTo>
                  <a:pt x="238125" y="249882"/>
                  <a:pt x="233660" y="238795"/>
                  <a:pt x="226219" y="230460"/>
                </a:cubicBezTo>
                <a:lnTo>
                  <a:pt x="277937" y="127099"/>
                </a:lnTo>
                <a:cubicBezTo>
                  <a:pt x="282327" y="118244"/>
                  <a:pt x="278755" y="107528"/>
                  <a:pt x="269974" y="103138"/>
                </a:cubicBezTo>
                <a:cubicBezTo>
                  <a:pt x="261193" y="98747"/>
                  <a:pt x="250403" y="102319"/>
                  <a:pt x="246013" y="111100"/>
                </a:cubicBezTo>
                <a:lnTo>
                  <a:pt x="194295" y="214461"/>
                </a:lnTo>
                <a:cubicBezTo>
                  <a:pt x="193030" y="214387"/>
                  <a:pt x="191765" y="214313"/>
                  <a:pt x="190500" y="214313"/>
                </a:cubicBezTo>
                <a:cubicBezTo>
                  <a:pt x="164232" y="214313"/>
                  <a:pt x="142875" y="235669"/>
                  <a:pt x="142875" y="261938"/>
                </a:cubicBezTo>
                <a:cubicBezTo>
                  <a:pt x="142875" y="288206"/>
                  <a:pt x="164232" y="309563"/>
                  <a:pt x="190500" y="309563"/>
                </a:cubicBezTo>
                <a:close/>
                <a:moveTo>
                  <a:pt x="130969" y="107156"/>
                </a:moveTo>
                <a:cubicBezTo>
                  <a:pt x="130969" y="94014"/>
                  <a:pt x="120299" y="83344"/>
                  <a:pt x="107156" y="83344"/>
                </a:cubicBezTo>
                <a:cubicBezTo>
                  <a:pt x="94014" y="83344"/>
                  <a:pt x="83344" y="94014"/>
                  <a:pt x="83344" y="107156"/>
                </a:cubicBezTo>
                <a:cubicBezTo>
                  <a:pt x="83344" y="120299"/>
                  <a:pt x="94014" y="130969"/>
                  <a:pt x="107156" y="130969"/>
                </a:cubicBezTo>
                <a:cubicBezTo>
                  <a:pt x="120299" y="130969"/>
                  <a:pt x="130969" y="120299"/>
                  <a:pt x="130969" y="107156"/>
                </a:cubicBezTo>
                <a:close/>
                <a:moveTo>
                  <a:pt x="71438" y="214313"/>
                </a:moveTo>
                <a:cubicBezTo>
                  <a:pt x="84580" y="214313"/>
                  <a:pt x="95250" y="203642"/>
                  <a:pt x="95250" y="190500"/>
                </a:cubicBezTo>
                <a:cubicBezTo>
                  <a:pt x="95250" y="177358"/>
                  <a:pt x="84580" y="166688"/>
                  <a:pt x="71438" y="166688"/>
                </a:cubicBezTo>
                <a:cubicBezTo>
                  <a:pt x="58295" y="166688"/>
                  <a:pt x="47625" y="177358"/>
                  <a:pt x="47625" y="190500"/>
                </a:cubicBezTo>
                <a:cubicBezTo>
                  <a:pt x="47625" y="203642"/>
                  <a:pt x="58295" y="214313"/>
                  <a:pt x="71438" y="214313"/>
                </a:cubicBezTo>
                <a:close/>
                <a:moveTo>
                  <a:pt x="333375" y="190500"/>
                </a:moveTo>
                <a:cubicBezTo>
                  <a:pt x="333375" y="177358"/>
                  <a:pt x="322705" y="166688"/>
                  <a:pt x="309563" y="166688"/>
                </a:cubicBezTo>
                <a:cubicBezTo>
                  <a:pt x="296420" y="166688"/>
                  <a:pt x="285750" y="177358"/>
                  <a:pt x="285750" y="190500"/>
                </a:cubicBezTo>
                <a:cubicBezTo>
                  <a:pt x="285750" y="203642"/>
                  <a:pt x="296420" y="214313"/>
                  <a:pt x="309563" y="214313"/>
                </a:cubicBezTo>
                <a:cubicBezTo>
                  <a:pt x="322705" y="214313"/>
                  <a:pt x="333375" y="203642"/>
                  <a:pt x="333375" y="190500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12" name="Text 9"/>
          <p:cNvSpPr/>
          <p:nvPr/>
        </p:nvSpPr>
        <p:spPr>
          <a:xfrm>
            <a:off x="5220891" y="3390900"/>
            <a:ext cx="175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Эффективность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43450" y="3695700"/>
            <a:ext cx="2705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Снижение барьеров внедрения и ускорение пути от требования до продукта.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83500" y="3479800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67700" y="2882900"/>
            <a:ext cx="2921000" cy="1600200"/>
          </a:xfrm>
          <a:custGeom>
            <a:avLst/>
            <a:gdLst/>
            <a:ahLst/>
            <a:cxnLst/>
            <a:rect l="l" t="t" r="r" b="b"/>
            <a:pathLst>
              <a:path w="2921000" h="1600200">
                <a:moveTo>
                  <a:pt x="101597" y="0"/>
                </a:moveTo>
                <a:lnTo>
                  <a:pt x="2819403" y="0"/>
                </a:lnTo>
                <a:cubicBezTo>
                  <a:pt x="2875514" y="0"/>
                  <a:pt x="2921000" y="45486"/>
                  <a:pt x="2921000" y="101597"/>
                </a:cubicBezTo>
                <a:lnTo>
                  <a:pt x="2921000" y="1498603"/>
                </a:lnTo>
                <a:cubicBezTo>
                  <a:pt x="2921000" y="1554714"/>
                  <a:pt x="2875514" y="1600200"/>
                  <a:pt x="2819403" y="1600200"/>
                </a:cubicBezTo>
                <a:lnTo>
                  <a:pt x="101597" y="1600200"/>
                </a:lnTo>
                <a:cubicBezTo>
                  <a:pt x="45486" y="1600200"/>
                  <a:pt x="0" y="1554714"/>
                  <a:pt x="0" y="14986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9517063" y="30353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81298" y="178594"/>
                </a:moveTo>
                <a:lnTo>
                  <a:pt x="250329" y="178594"/>
                </a:lnTo>
                <a:cubicBezTo>
                  <a:pt x="237158" y="178594"/>
                  <a:pt x="226516" y="167953"/>
                  <a:pt x="226516" y="154781"/>
                </a:cubicBezTo>
                <a:lnTo>
                  <a:pt x="226516" y="23812"/>
                </a:lnTo>
                <a:cubicBezTo>
                  <a:pt x="226516" y="10641"/>
                  <a:pt x="237232" y="-149"/>
                  <a:pt x="250254" y="1563"/>
                </a:cubicBezTo>
                <a:cubicBezTo>
                  <a:pt x="329878" y="12129"/>
                  <a:pt x="392981" y="75233"/>
                  <a:pt x="403547" y="154856"/>
                </a:cubicBezTo>
                <a:cubicBezTo>
                  <a:pt x="405259" y="167878"/>
                  <a:pt x="394469" y="178594"/>
                  <a:pt x="381298" y="178594"/>
                </a:cubicBezTo>
                <a:close/>
                <a:moveTo>
                  <a:pt x="165646" y="27682"/>
                </a:moveTo>
                <a:cubicBezTo>
                  <a:pt x="179115" y="24854"/>
                  <a:pt x="190798" y="35868"/>
                  <a:pt x="190798" y="49634"/>
                </a:cubicBezTo>
                <a:lnTo>
                  <a:pt x="190798" y="196453"/>
                </a:lnTo>
                <a:cubicBezTo>
                  <a:pt x="190798" y="200620"/>
                  <a:pt x="192286" y="204639"/>
                  <a:pt x="194890" y="207838"/>
                </a:cubicBezTo>
                <a:lnTo>
                  <a:pt x="293191" y="326454"/>
                </a:lnTo>
                <a:cubicBezTo>
                  <a:pt x="301898" y="336947"/>
                  <a:pt x="300038" y="352797"/>
                  <a:pt x="288057" y="359271"/>
                </a:cubicBezTo>
                <a:cubicBezTo>
                  <a:pt x="262682" y="373112"/>
                  <a:pt x="233586" y="381000"/>
                  <a:pt x="202704" y="381000"/>
                </a:cubicBezTo>
                <a:cubicBezTo>
                  <a:pt x="104105" y="381000"/>
                  <a:pt x="24110" y="301005"/>
                  <a:pt x="24110" y="202406"/>
                </a:cubicBezTo>
                <a:cubicBezTo>
                  <a:pt x="24110" y="116458"/>
                  <a:pt x="84758" y="44723"/>
                  <a:pt x="165646" y="27682"/>
                </a:cubicBezTo>
                <a:close/>
                <a:moveTo>
                  <a:pt x="355550" y="214313"/>
                </a:moveTo>
                <a:lnTo>
                  <a:pt x="403175" y="214313"/>
                </a:lnTo>
                <a:cubicBezTo>
                  <a:pt x="416942" y="214313"/>
                  <a:pt x="427955" y="225996"/>
                  <a:pt x="425128" y="239464"/>
                </a:cubicBezTo>
                <a:cubicBezTo>
                  <a:pt x="417537" y="275481"/>
                  <a:pt x="399083" y="307479"/>
                  <a:pt x="373335" y="331887"/>
                </a:cubicBezTo>
                <a:cubicBezTo>
                  <a:pt x="364182" y="340593"/>
                  <a:pt x="349821" y="338733"/>
                  <a:pt x="341784" y="328985"/>
                </a:cubicBezTo>
                <a:lnTo>
                  <a:pt x="278978" y="253305"/>
                </a:lnTo>
                <a:cubicBezTo>
                  <a:pt x="266105" y="237753"/>
                  <a:pt x="277192" y="214313"/>
                  <a:pt x="297284" y="214313"/>
                </a:cubicBezTo>
                <a:lnTo>
                  <a:pt x="355476" y="214313"/>
                </a:ln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17" name="Text 14"/>
          <p:cNvSpPr/>
          <p:nvPr/>
        </p:nvSpPr>
        <p:spPr>
          <a:xfrm>
            <a:off x="9020373" y="3517900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Руководство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75650" y="3822700"/>
            <a:ext cx="2705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Прозрачные отчёты по прогрессу и качеству.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54000" y="5016499"/>
            <a:ext cx="11684000" cy="1600199"/>
          </a:xfrm>
          <a:custGeom>
            <a:avLst/>
            <a:gdLst/>
            <a:ahLst/>
            <a:cxnLst/>
            <a:rect l="l" t="t" r="r" b="b"/>
            <a:pathLst>
              <a:path w="11684000" h="914400">
                <a:moveTo>
                  <a:pt x="101599" y="0"/>
                </a:moveTo>
                <a:lnTo>
                  <a:pt x="11582401" y="0"/>
                </a:lnTo>
                <a:cubicBezTo>
                  <a:pt x="11638513" y="0"/>
                  <a:pt x="11684000" y="45487"/>
                  <a:pt x="11684000" y="101599"/>
                </a:cubicBezTo>
                <a:lnTo>
                  <a:pt x="11684000" y="812801"/>
                </a:lnTo>
                <a:cubicBezTo>
                  <a:pt x="11684000" y="868913"/>
                  <a:pt x="11638513" y="914400"/>
                  <a:pt x="11582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C107">
              <a:alpha val="2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55600" y="5132818"/>
            <a:ext cx="11480800" cy="1422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Итог: Веб-реализация RUP ускоряет путь от требования до готового продукта за счёт автоматизации и непрерывной </a:t>
            </a:r>
            <a:r>
              <a:rPr lang="en-US" sz="1600" b="1" dirty="0" err="1">
                <a:solidFill>
                  <a:srgbClr val="0056B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интеграции</a:t>
            </a:r>
            <a:r>
              <a:rPr lang="en-US" sz="1600" b="1" dirty="0">
                <a:solidFill>
                  <a:srgbClr val="0056B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ru-RU" sz="1600" b="1" dirty="0">
                <a:solidFill>
                  <a:srgbClr val="0056B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RUP (моделирование, управление требованиями, тестирование) поддерживается конкретным программным модулем, что обеспечивает контролируемый и предсказуемый процесс разработки.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 flipH="1">
            <a:off x="1911843" y="-1344772"/>
            <a:ext cx="767080" cy="39909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100000">
                <a:srgbClr val="DDF0FE"/>
              </a:gs>
            </a:gsLst>
            <a:lin ang="16200000" scaled="1"/>
          </a:gradFill>
          <a:ln/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3" name="Text 1"/>
          <p:cNvSpPr/>
          <p:nvPr/>
        </p:nvSpPr>
        <p:spPr>
          <a:xfrm rot="16200000">
            <a:off x="2154555" y="-1158240"/>
            <a:ext cx="767080" cy="39909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50" y="479583"/>
            <a:ext cx="319293" cy="319405"/>
          </a:xfrm>
          <a:prstGeom prst="ellipse">
            <a:avLst/>
          </a:prstGeom>
          <a:solidFill>
            <a:srgbClr val="1E69D5"/>
          </a:solidFill>
          <a:ln w="19050">
            <a:solidFill>
              <a:srgbClr val="1E69D5"/>
            </a:solidFill>
            <a:prstDash val="solid"/>
          </a:ln>
          <a:effectLst>
            <a:outerShdw blurRad="101600" dist="44901" dir="2700000" algn="bl" rotWithShape="0">
              <a:srgbClr val="1E69D5">
                <a:alpha val="20000"/>
              </a:srgbClr>
            </a:outerShdw>
          </a:effectLst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50" y="479583"/>
            <a:ext cx="319293" cy="3194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3568" y="479583"/>
            <a:ext cx="319293" cy="31940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69D5"/>
            </a:solidFill>
            <a:prstDash val="solid"/>
          </a:ln>
          <a:effectLst>
            <a:outerShdw blurRad="101600" dist="44901" dir="2700000" algn="bl" rotWithShape="0">
              <a:srgbClr val="1E69D5">
                <a:alpha val="20000"/>
              </a:srgbClr>
            </a:outerShdw>
          </a:effectLst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3568" y="479583"/>
            <a:ext cx="319293" cy="3194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pic>
        <p:nvPicPr>
          <p:cNvPr id="8" name="Image 0" descr="https://test-kimi-img.moonshot.cn/pub/slides/slides_tmpl/image/25-08-06-16:13:00-d29gt34up1d2ae82khl0.jpg"/>
          <p:cNvPicPr>
            <a:picLocks noChangeAspect="1"/>
          </p:cNvPicPr>
          <p:nvPr/>
        </p:nvPicPr>
        <p:blipFill>
          <a:blip r:embed="rId3"/>
          <a:srcRect l="29" r="29"/>
          <a:stretch/>
        </p:blipFill>
        <p:spPr>
          <a:xfrm>
            <a:off x="9966960" y="-34290"/>
            <a:ext cx="2223770" cy="68922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964420" y="-34290"/>
            <a:ext cx="2227580" cy="6903720"/>
          </a:xfrm>
          <a:prstGeom prst="rect">
            <a:avLst/>
          </a:prstGeom>
          <a:gradFill flip="none" rotWithShape="1">
            <a:gsLst>
              <a:gs pos="0">
                <a:srgbClr val="004CC0">
                  <a:alpha val="78000"/>
                </a:srgbClr>
              </a:gs>
              <a:gs pos="100000">
                <a:srgbClr val="004CC0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964420" y="-34290"/>
            <a:ext cx="2227580" cy="690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91731" y="8722360"/>
            <a:ext cx="287989" cy="6985"/>
          </a:xfrm>
          <a:custGeom>
            <a:avLst/>
            <a:gdLst/>
            <a:ahLst/>
            <a:cxnLst/>
            <a:rect l="l" t="t" r="r" b="b"/>
            <a:pathLst>
              <a:path w="287989" h="6985">
                <a:moveTo>
                  <a:pt x="287989" y="0"/>
                </a:moveTo>
                <a:lnTo>
                  <a:pt x="260078" y="2540"/>
                </a:lnTo>
                <a:lnTo>
                  <a:pt x="221384" y="5080"/>
                </a:lnTo>
                <a:lnTo>
                  <a:pt x="182689" y="6350"/>
                </a:lnTo>
                <a:lnTo>
                  <a:pt x="143995" y="6985"/>
                </a:lnTo>
                <a:lnTo>
                  <a:pt x="104666" y="6350"/>
                </a:lnTo>
                <a:lnTo>
                  <a:pt x="65971" y="5080"/>
                </a:lnTo>
                <a:lnTo>
                  <a:pt x="27911" y="2540"/>
                </a:lnTo>
                <a:lnTo>
                  <a:pt x="0" y="0"/>
                </a:lnTo>
                <a:lnTo>
                  <a:pt x="287989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91731" y="8722360"/>
            <a:ext cx="287989" cy="69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3" name="Shape 10"/>
          <p:cNvSpPr/>
          <p:nvPr/>
        </p:nvSpPr>
        <p:spPr>
          <a:xfrm rot="4920000" flipV="1">
            <a:off x="9856470" y="5581650"/>
            <a:ext cx="1457960" cy="1342390"/>
          </a:xfrm>
          <a:custGeom>
            <a:avLst/>
            <a:gdLst/>
            <a:ahLst/>
            <a:cxnLst/>
            <a:rect l="l" t="t" r="r" b="b"/>
            <a:pathLst>
              <a:path w="1457960" h="1342390">
                <a:moveTo>
                  <a:pt x="0" y="272600"/>
                </a:moveTo>
                <a:cubicBezTo>
                  <a:pt x="-2882" y="202123"/>
                  <a:pt x="17069" y="72029"/>
                  <a:pt x="20394" y="64272"/>
                </a:cubicBezTo>
                <a:lnTo>
                  <a:pt x="453991" y="0"/>
                </a:lnTo>
                <a:cubicBezTo>
                  <a:pt x="420962" y="60947"/>
                  <a:pt x="391479" y="210102"/>
                  <a:pt x="396356" y="272600"/>
                </a:cubicBezTo>
                <a:cubicBezTo>
                  <a:pt x="384829" y="650695"/>
                  <a:pt x="731086" y="955431"/>
                  <a:pt x="1070028" y="946122"/>
                </a:cubicBezTo>
                <a:cubicBezTo>
                  <a:pt x="1184412" y="955209"/>
                  <a:pt x="1353994" y="890273"/>
                  <a:pt x="1397221" y="861461"/>
                </a:cubicBezTo>
                <a:lnTo>
                  <a:pt x="1457960" y="1269918"/>
                </a:lnTo>
                <a:cubicBezTo>
                  <a:pt x="1365300" y="1313579"/>
                  <a:pt x="1153599" y="1348152"/>
                  <a:pt x="1070028" y="1342390"/>
                </a:cubicBezTo>
                <a:cubicBezTo>
                  <a:pt x="469509" y="1360785"/>
                  <a:pt x="-14631" y="811152"/>
                  <a:pt x="0" y="27260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0"/>
                </a:srgbClr>
              </a:gs>
              <a:gs pos="100000">
                <a:srgbClr val="00B0F0">
                  <a:alpha val="0"/>
                </a:srgbClr>
              </a:gs>
            </a:gsLst>
            <a:lin ang="16200000" scaled="1"/>
          </a:gradFill>
          <a:ln/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4" name="Text 11"/>
          <p:cNvSpPr/>
          <p:nvPr/>
        </p:nvSpPr>
        <p:spPr>
          <a:xfrm rot="4920000">
            <a:off x="9856470" y="5581650"/>
            <a:ext cx="1457960" cy="13423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5" name="Shape 12"/>
          <p:cNvSpPr/>
          <p:nvPr/>
        </p:nvSpPr>
        <p:spPr>
          <a:xfrm rot="15060000" flipH="1">
            <a:off x="10623533" y="4245026"/>
            <a:ext cx="1958340" cy="1694329"/>
          </a:xfrm>
          <a:custGeom>
            <a:avLst/>
            <a:gdLst/>
            <a:ahLst/>
            <a:cxnLst/>
            <a:rect l="l" t="t" r="r" b="b"/>
            <a:pathLst>
              <a:path w="1958340" h="1694329">
                <a:moveTo>
                  <a:pt x="250190" y="1632094"/>
                </a:moveTo>
                <a:lnTo>
                  <a:pt x="525780" y="1632094"/>
                </a:lnTo>
                <a:lnTo>
                  <a:pt x="349885" y="1694329"/>
                </a:lnTo>
                <a:lnTo>
                  <a:pt x="309245" y="1694329"/>
                </a:lnTo>
                <a:cubicBezTo>
                  <a:pt x="288290" y="1675277"/>
                  <a:pt x="265430" y="1651780"/>
                  <a:pt x="250190" y="1632094"/>
                </a:cubicBezTo>
                <a:close/>
                <a:moveTo>
                  <a:pt x="173990" y="1537470"/>
                </a:moveTo>
                <a:lnTo>
                  <a:pt x="793750" y="1537470"/>
                </a:lnTo>
                <a:lnTo>
                  <a:pt x="626745" y="1596530"/>
                </a:lnTo>
                <a:lnTo>
                  <a:pt x="217805" y="1596530"/>
                </a:lnTo>
                <a:cubicBezTo>
                  <a:pt x="202565" y="1578114"/>
                  <a:pt x="186055" y="1556522"/>
                  <a:pt x="173990" y="1537470"/>
                </a:cubicBezTo>
                <a:close/>
                <a:moveTo>
                  <a:pt x="114935" y="1439672"/>
                </a:moveTo>
                <a:lnTo>
                  <a:pt x="1071245" y="1439672"/>
                </a:lnTo>
                <a:lnTo>
                  <a:pt x="899795" y="1500637"/>
                </a:lnTo>
                <a:lnTo>
                  <a:pt x="149225" y="1500637"/>
                </a:lnTo>
                <a:cubicBezTo>
                  <a:pt x="137795" y="1481585"/>
                  <a:pt x="125095" y="1458723"/>
                  <a:pt x="114935" y="1439672"/>
                </a:cubicBezTo>
                <a:close/>
                <a:moveTo>
                  <a:pt x="68580" y="1343778"/>
                </a:moveTo>
                <a:lnTo>
                  <a:pt x="1343660" y="1343778"/>
                </a:lnTo>
                <a:lnTo>
                  <a:pt x="1176655" y="1402203"/>
                </a:lnTo>
                <a:lnTo>
                  <a:pt x="95250" y="1402203"/>
                </a:lnTo>
                <a:cubicBezTo>
                  <a:pt x="90170" y="1393313"/>
                  <a:pt x="85090" y="1380611"/>
                  <a:pt x="81280" y="1372356"/>
                </a:cubicBezTo>
                <a:cubicBezTo>
                  <a:pt x="77470" y="1362830"/>
                  <a:pt x="72390" y="1350764"/>
                  <a:pt x="68580" y="1343778"/>
                </a:cubicBezTo>
                <a:close/>
                <a:moveTo>
                  <a:pt x="35560" y="1245345"/>
                </a:moveTo>
                <a:lnTo>
                  <a:pt x="1621155" y="1245345"/>
                </a:lnTo>
                <a:lnTo>
                  <a:pt x="1445260" y="1307580"/>
                </a:lnTo>
                <a:lnTo>
                  <a:pt x="54610" y="1307580"/>
                </a:lnTo>
                <a:cubicBezTo>
                  <a:pt x="46990" y="1288528"/>
                  <a:pt x="40640" y="1265031"/>
                  <a:pt x="35560" y="1245345"/>
                </a:cubicBezTo>
                <a:close/>
                <a:moveTo>
                  <a:pt x="12700" y="1150721"/>
                </a:moveTo>
                <a:lnTo>
                  <a:pt x="1889125" y="1150721"/>
                </a:lnTo>
                <a:lnTo>
                  <a:pt x="1722120" y="1209781"/>
                </a:lnTo>
                <a:lnTo>
                  <a:pt x="26035" y="1209781"/>
                </a:lnTo>
                <a:cubicBezTo>
                  <a:pt x="24130" y="1200256"/>
                  <a:pt x="20955" y="1188189"/>
                  <a:pt x="19050" y="1179934"/>
                </a:cubicBezTo>
                <a:cubicBezTo>
                  <a:pt x="16510" y="1170408"/>
                  <a:pt x="13970" y="1158342"/>
                  <a:pt x="12700" y="1150721"/>
                </a:cubicBezTo>
                <a:close/>
                <a:moveTo>
                  <a:pt x="1270" y="1052923"/>
                </a:moveTo>
                <a:lnTo>
                  <a:pt x="1957070" y="1052923"/>
                </a:lnTo>
                <a:cubicBezTo>
                  <a:pt x="1955165" y="1073879"/>
                  <a:pt x="1952625" y="1096741"/>
                  <a:pt x="1948815" y="1113888"/>
                </a:cubicBezTo>
                <a:lnTo>
                  <a:pt x="9525" y="1113888"/>
                </a:lnTo>
                <a:cubicBezTo>
                  <a:pt x="5080" y="1094836"/>
                  <a:pt x="3175" y="1071974"/>
                  <a:pt x="1270" y="1052923"/>
                </a:cubicBezTo>
                <a:close/>
                <a:moveTo>
                  <a:pt x="0" y="957029"/>
                </a:moveTo>
                <a:lnTo>
                  <a:pt x="1958340" y="957029"/>
                </a:lnTo>
                <a:lnTo>
                  <a:pt x="1958340" y="960204"/>
                </a:lnTo>
                <a:lnTo>
                  <a:pt x="1958340" y="960839"/>
                </a:lnTo>
                <a:lnTo>
                  <a:pt x="1958340" y="961475"/>
                </a:lnTo>
                <a:lnTo>
                  <a:pt x="1958340" y="962110"/>
                </a:lnTo>
                <a:lnTo>
                  <a:pt x="1958340" y="962745"/>
                </a:lnTo>
                <a:lnTo>
                  <a:pt x="1958340" y="963380"/>
                </a:lnTo>
                <a:lnTo>
                  <a:pt x="1958340" y="964015"/>
                </a:lnTo>
                <a:lnTo>
                  <a:pt x="1958340" y="979256"/>
                </a:lnTo>
                <a:lnTo>
                  <a:pt x="1958340" y="979891"/>
                </a:lnTo>
                <a:lnTo>
                  <a:pt x="1958340" y="980526"/>
                </a:lnTo>
                <a:lnTo>
                  <a:pt x="1958340" y="981796"/>
                </a:lnTo>
                <a:lnTo>
                  <a:pt x="1958340" y="982431"/>
                </a:lnTo>
                <a:lnTo>
                  <a:pt x="1958340" y="984337"/>
                </a:lnTo>
                <a:lnTo>
                  <a:pt x="1958340" y="991322"/>
                </a:lnTo>
                <a:lnTo>
                  <a:pt x="1958340" y="1018630"/>
                </a:lnTo>
                <a:lnTo>
                  <a:pt x="0" y="1018630"/>
                </a:lnTo>
                <a:lnTo>
                  <a:pt x="0" y="957029"/>
                </a:lnTo>
                <a:close/>
                <a:moveTo>
                  <a:pt x="5080" y="858596"/>
                </a:moveTo>
                <a:lnTo>
                  <a:pt x="1951355" y="858596"/>
                </a:lnTo>
                <a:cubicBezTo>
                  <a:pt x="1953895" y="873202"/>
                  <a:pt x="1954530" y="889078"/>
                  <a:pt x="1955165" y="901144"/>
                </a:cubicBezTo>
                <a:cubicBezTo>
                  <a:pt x="1955800" y="907495"/>
                  <a:pt x="1956435" y="916386"/>
                  <a:pt x="1957070" y="920831"/>
                </a:cubicBezTo>
                <a:lnTo>
                  <a:pt x="1270" y="920831"/>
                </a:lnTo>
                <a:cubicBezTo>
                  <a:pt x="1270" y="901144"/>
                  <a:pt x="3175" y="880822"/>
                  <a:pt x="5080" y="863041"/>
                </a:cubicBezTo>
                <a:lnTo>
                  <a:pt x="5080" y="861771"/>
                </a:lnTo>
                <a:lnTo>
                  <a:pt x="5080" y="861136"/>
                </a:lnTo>
                <a:lnTo>
                  <a:pt x="5080" y="859866"/>
                </a:lnTo>
                <a:lnTo>
                  <a:pt x="5080" y="858596"/>
                </a:lnTo>
                <a:close/>
                <a:moveTo>
                  <a:pt x="22225" y="763972"/>
                </a:moveTo>
                <a:lnTo>
                  <a:pt x="1934210" y="763972"/>
                </a:lnTo>
                <a:cubicBezTo>
                  <a:pt x="1938020" y="783024"/>
                  <a:pt x="1942465" y="805886"/>
                  <a:pt x="1945640" y="824938"/>
                </a:cubicBezTo>
                <a:lnTo>
                  <a:pt x="10795" y="824938"/>
                </a:lnTo>
                <a:cubicBezTo>
                  <a:pt x="14605" y="803981"/>
                  <a:pt x="19050" y="781119"/>
                  <a:pt x="22225" y="763972"/>
                </a:cubicBezTo>
                <a:close/>
                <a:moveTo>
                  <a:pt x="49530" y="666174"/>
                </a:moveTo>
                <a:lnTo>
                  <a:pt x="1908810" y="666174"/>
                </a:lnTo>
                <a:cubicBezTo>
                  <a:pt x="1911350" y="676334"/>
                  <a:pt x="1915160" y="689036"/>
                  <a:pt x="1917065" y="697291"/>
                </a:cubicBezTo>
                <a:cubicBezTo>
                  <a:pt x="1920240" y="706817"/>
                  <a:pt x="1923415" y="718248"/>
                  <a:pt x="1925955" y="727139"/>
                </a:cubicBezTo>
                <a:lnTo>
                  <a:pt x="32385" y="727139"/>
                </a:lnTo>
                <a:cubicBezTo>
                  <a:pt x="34925" y="713803"/>
                  <a:pt x="40005" y="698561"/>
                  <a:pt x="43180" y="687765"/>
                </a:cubicBezTo>
                <a:cubicBezTo>
                  <a:pt x="45720" y="680780"/>
                  <a:pt x="48260" y="671889"/>
                  <a:pt x="49530" y="666174"/>
                </a:cubicBezTo>
                <a:close/>
                <a:moveTo>
                  <a:pt x="86995" y="570280"/>
                </a:moveTo>
                <a:lnTo>
                  <a:pt x="1868170" y="570280"/>
                </a:lnTo>
                <a:cubicBezTo>
                  <a:pt x="1877060" y="589332"/>
                  <a:pt x="1887855" y="612829"/>
                  <a:pt x="1894840" y="631881"/>
                </a:cubicBezTo>
                <a:lnTo>
                  <a:pt x="62230" y="631881"/>
                </a:lnTo>
                <a:cubicBezTo>
                  <a:pt x="69850" y="610924"/>
                  <a:pt x="78105" y="587427"/>
                  <a:pt x="86995" y="570280"/>
                </a:cubicBezTo>
                <a:close/>
                <a:moveTo>
                  <a:pt x="140335" y="471846"/>
                </a:moveTo>
                <a:lnTo>
                  <a:pt x="1818640" y="471846"/>
                </a:lnTo>
                <a:cubicBezTo>
                  <a:pt x="1821815" y="477562"/>
                  <a:pt x="1825625" y="485183"/>
                  <a:pt x="1828165" y="488993"/>
                </a:cubicBezTo>
                <a:cubicBezTo>
                  <a:pt x="1835785" y="503599"/>
                  <a:pt x="1845310" y="520746"/>
                  <a:pt x="1851025" y="534082"/>
                </a:cubicBezTo>
                <a:lnTo>
                  <a:pt x="105410" y="534082"/>
                </a:lnTo>
                <a:cubicBezTo>
                  <a:pt x="111125" y="523921"/>
                  <a:pt x="118110" y="511220"/>
                  <a:pt x="123190" y="502964"/>
                </a:cubicBezTo>
                <a:cubicBezTo>
                  <a:pt x="128905" y="492803"/>
                  <a:pt x="135255" y="480737"/>
                  <a:pt x="140335" y="471846"/>
                </a:cubicBezTo>
                <a:close/>
                <a:moveTo>
                  <a:pt x="207010" y="377223"/>
                </a:moveTo>
                <a:lnTo>
                  <a:pt x="1751330" y="377223"/>
                </a:lnTo>
                <a:cubicBezTo>
                  <a:pt x="1766570" y="396275"/>
                  <a:pt x="1783080" y="419137"/>
                  <a:pt x="1795145" y="438189"/>
                </a:cubicBezTo>
                <a:lnTo>
                  <a:pt x="163195" y="438189"/>
                </a:lnTo>
                <a:cubicBezTo>
                  <a:pt x="175895" y="417232"/>
                  <a:pt x="193040" y="394370"/>
                  <a:pt x="207010" y="377223"/>
                </a:cubicBezTo>
                <a:close/>
                <a:moveTo>
                  <a:pt x="292100" y="281330"/>
                </a:moveTo>
                <a:lnTo>
                  <a:pt x="1664970" y="281330"/>
                </a:lnTo>
                <a:cubicBezTo>
                  <a:pt x="1683385" y="299746"/>
                  <a:pt x="1704975" y="321338"/>
                  <a:pt x="1722120" y="340390"/>
                </a:cubicBezTo>
                <a:lnTo>
                  <a:pt x="234315" y="340390"/>
                </a:lnTo>
                <a:cubicBezTo>
                  <a:pt x="251460" y="319433"/>
                  <a:pt x="273050" y="298476"/>
                  <a:pt x="292100" y="281330"/>
                </a:cubicBezTo>
                <a:close/>
                <a:moveTo>
                  <a:pt x="405765" y="183531"/>
                </a:moveTo>
                <a:lnTo>
                  <a:pt x="1550670" y="183531"/>
                </a:lnTo>
                <a:cubicBezTo>
                  <a:pt x="1577340" y="202583"/>
                  <a:pt x="1605280" y="226080"/>
                  <a:pt x="1627505" y="245132"/>
                </a:cubicBezTo>
                <a:lnTo>
                  <a:pt x="330835" y="245132"/>
                </a:lnTo>
                <a:cubicBezTo>
                  <a:pt x="353060" y="224175"/>
                  <a:pt x="382905" y="200678"/>
                  <a:pt x="405765" y="183531"/>
                </a:cubicBezTo>
                <a:close/>
                <a:moveTo>
                  <a:pt x="572770" y="88273"/>
                </a:moveTo>
                <a:lnTo>
                  <a:pt x="1384300" y="88273"/>
                </a:lnTo>
                <a:cubicBezTo>
                  <a:pt x="1423670" y="105419"/>
                  <a:pt x="1464310" y="127011"/>
                  <a:pt x="1497330" y="147333"/>
                </a:cubicBezTo>
                <a:lnTo>
                  <a:pt x="459740" y="147333"/>
                </a:lnTo>
                <a:cubicBezTo>
                  <a:pt x="495300" y="125106"/>
                  <a:pt x="537845" y="104149"/>
                  <a:pt x="572770" y="88273"/>
                </a:cubicBezTo>
                <a:close/>
                <a:moveTo>
                  <a:pt x="977900" y="0"/>
                </a:moveTo>
                <a:cubicBezTo>
                  <a:pt x="1087120" y="-1270"/>
                  <a:pt x="1203325" y="19687"/>
                  <a:pt x="1293495" y="51440"/>
                </a:cubicBezTo>
                <a:lnTo>
                  <a:pt x="661670" y="51440"/>
                </a:lnTo>
                <a:cubicBezTo>
                  <a:pt x="759460" y="16511"/>
                  <a:pt x="878840" y="-635"/>
                  <a:pt x="9779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6" name="Text 13"/>
          <p:cNvSpPr/>
          <p:nvPr/>
        </p:nvSpPr>
        <p:spPr>
          <a:xfrm rot="15060000">
            <a:off x="10623533" y="4245026"/>
            <a:ext cx="1958340" cy="169432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7" name="Shape 14"/>
          <p:cNvSpPr/>
          <p:nvPr/>
        </p:nvSpPr>
        <p:spPr>
          <a:xfrm rot="6540000">
            <a:off x="10932795" y="1224280"/>
            <a:ext cx="464185" cy="464185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8" name="Text 15"/>
          <p:cNvSpPr/>
          <p:nvPr/>
        </p:nvSpPr>
        <p:spPr>
          <a:xfrm rot="6540000">
            <a:off x="10932795" y="1224280"/>
            <a:ext cx="464185" cy="464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56920" y="1517650"/>
            <a:ext cx="9063990" cy="14325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23" name="Shape 20"/>
          <p:cNvSpPr/>
          <p:nvPr/>
        </p:nvSpPr>
        <p:spPr>
          <a:xfrm flipH="1" flipV="1">
            <a:off x="9592310" y="1517650"/>
            <a:ext cx="228600" cy="228600"/>
          </a:xfrm>
          <a:prstGeom prst="rtTriangle">
            <a:avLst/>
          </a:prstGeom>
          <a:solidFill>
            <a:srgbClr val="004CC0"/>
          </a:solidFill>
          <a:ln/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35028" y="1220788"/>
            <a:ext cx="8798560" cy="6029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lnSpc>
                <a:spcPct val="130000"/>
              </a:lnSpc>
              <a:buFont typeface="+mj-lt"/>
              <a:buAutoNum type="arabicPeriod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effectLst/>
                <a:latin typeface="MiSans" pitchFamily="50" charset="-122"/>
                <a:ea typeface="MiSans" pitchFamily="50" charset="-122"/>
                <a:cs typeface="MiSans" pitchFamily="50" charset="-122"/>
              </a:rPr>
              <a:t>Jacobson I., Booch G., Rumbaugh J. The Unified Software Development Process. Addison-Wesley, 1999. </a:t>
            </a:r>
            <a:endParaRPr kumimoji="0" lang="en-US" altLang="zh-CN" b="0" i="0" u="none" strike="noStrike" cap="none" normalizeH="0" baseline="0" dirty="0">
              <a:ln>
                <a:noFill/>
              </a:ln>
              <a:effectLst/>
              <a:latin typeface="MiSans" pitchFamily="50" charset="-122"/>
              <a:ea typeface="MiSans" pitchFamily="50" charset="-122"/>
              <a:cs typeface="MiSans" pitchFamily="50" charset="-122"/>
            </a:endParaRPr>
          </a:p>
          <a:p>
            <a:pPr marL="342900" indent="-342900" algn="just">
              <a:lnSpc>
                <a:spcPct val="130000"/>
              </a:lnSpc>
              <a:buFont typeface="+mj-lt"/>
              <a:buAutoNum type="arabicPeriod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effectLst/>
                <a:latin typeface="MiSans" pitchFamily="50" charset="-122"/>
                <a:ea typeface="MiSans" pitchFamily="50" charset="-122"/>
                <a:cs typeface="MiSans" pitchFamily="50" charset="-122"/>
              </a:rPr>
              <a:t>Kruchten P. The Rational Unified Process: An Introduction. Addison-Wesley, 2004. - IBM Rational Unified Process: Official Documentation, 2023. </a:t>
            </a:r>
            <a:endParaRPr kumimoji="0" lang="en-US" altLang="zh-CN" b="0" i="0" u="none" strike="noStrike" cap="none" normalizeH="0" baseline="0" dirty="0">
              <a:ln>
                <a:noFill/>
              </a:ln>
              <a:effectLst/>
              <a:latin typeface="MiSans" pitchFamily="50" charset="-122"/>
              <a:ea typeface="MiSans" pitchFamily="50" charset="-122"/>
              <a:cs typeface="MiSans" pitchFamily="50" charset="-122"/>
            </a:endParaRPr>
          </a:p>
          <a:p>
            <a:pPr marL="342900" indent="-342900" algn="just">
              <a:lnSpc>
                <a:spcPct val="130000"/>
              </a:lnSpc>
              <a:buFont typeface="+mj-lt"/>
              <a:buAutoNum type="arabicPeriod"/>
            </a:pPr>
            <a:r>
              <a:rPr kumimoji="0" lang="en-AU" altLang="zh-CN" b="0" i="0" u="none" strike="noStrike" cap="none" normalizeH="0" baseline="0" dirty="0">
                <a:ln>
                  <a:noFill/>
                </a:ln>
                <a:effectLst/>
                <a:latin typeface="MiSans" pitchFamily="50" charset="-122"/>
                <a:ea typeface="MiSans" pitchFamily="50" charset="-122"/>
                <a:cs typeface="MiSans" pitchFamily="50" charset="-122"/>
              </a:rPr>
              <a:t>IBM. (2023). Engineering Lifecycle Management. Retrieved November 1, 2023, from https://www.ibm.com/products/engineering-lifecycle-management</a:t>
            </a:r>
            <a:endParaRPr kumimoji="0" lang="en-US" altLang="zh-CN" b="0" i="0" u="none" strike="noStrike" cap="none" normalizeH="0" baseline="0" dirty="0">
              <a:ln>
                <a:noFill/>
              </a:ln>
              <a:effectLst/>
              <a:latin typeface="MiSans" pitchFamily="50" charset="-122"/>
              <a:ea typeface="MiSans" pitchFamily="50" charset="-122"/>
              <a:cs typeface="MiSans" pitchFamily="50" charset="-122"/>
            </a:endParaRPr>
          </a:p>
          <a:p>
            <a:pPr marL="342900" indent="-342900" algn="just">
              <a:lnSpc>
                <a:spcPct val="130000"/>
              </a:lnSpc>
              <a:buFont typeface="+mj-lt"/>
              <a:buAutoNum type="arabicPeriod"/>
            </a:pPr>
            <a:r>
              <a:rPr lang="en-AU" altLang="zh-CN" dirty="0">
                <a:latin typeface="MiSans" pitchFamily="50" charset="-122"/>
                <a:ea typeface="MiSans" pitchFamily="50" charset="-122"/>
                <a:cs typeface="MiSans" pitchFamily="50" charset="-122"/>
                <a:hlinkClick r:id="rId4"/>
              </a:rPr>
              <a:t>Rational Unified Process - an overview | ScienceDirect Topics</a:t>
            </a:r>
            <a:endParaRPr lang="en-AU" altLang="zh-CN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  <a:p>
            <a:pPr marL="342900" indent="-342900" algn="just">
              <a:lnSpc>
                <a:spcPct val="130000"/>
              </a:lnSpc>
              <a:buFont typeface="+mj-lt"/>
              <a:buAutoNum type="arabicPeriod"/>
            </a:pPr>
            <a:r>
              <a:rPr lang="en-AU" altLang="zh-CN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Anwar A. A Review of RUP (Rational Unified Process) // International Journal of Software Engineering (IJSE). 2014. Vol. 5. No. 2. P. 1-24.</a:t>
            </a:r>
            <a:endParaRPr lang="zh-CN" altLang="zh-CN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  <a:p>
            <a:pPr marL="342900" indent="-342900" algn="just">
              <a:lnSpc>
                <a:spcPct val="130000"/>
              </a:lnSpc>
              <a:buFont typeface="+mj-lt"/>
              <a:buAutoNum type="arabicPeriod"/>
            </a:pPr>
            <a:r>
              <a:rPr lang="en-AU" altLang="zh-CN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Sintawati, I. D. (2022). Comparison of the RAD and RUP Methods in Information System Development. </a:t>
            </a:r>
            <a:r>
              <a:rPr lang="en-AU" altLang="zh-CN" dirty="0" err="1">
                <a:latin typeface="MiSans" pitchFamily="50" charset="-122"/>
                <a:ea typeface="MiSans" pitchFamily="50" charset="-122"/>
                <a:cs typeface="MiSans" pitchFamily="50" charset="-122"/>
              </a:rPr>
              <a:t>Jurnal</a:t>
            </a:r>
            <a:r>
              <a:rPr lang="en-AU" altLang="zh-CN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 AKRAB JUARA, 7(2), 94–100.</a:t>
            </a:r>
          </a:p>
          <a:p>
            <a:pPr marL="342900" indent="-342900" algn="just">
              <a:lnSpc>
                <a:spcPct val="130000"/>
              </a:lnSpc>
              <a:buFont typeface="+mj-lt"/>
              <a:buAutoNum type="arabicPeriod"/>
            </a:pPr>
            <a:r>
              <a:rPr lang="en-AU" altLang="zh-CN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Smith, J. “Implementing Requirements Traceability with IBM DOORS in a Safety-Critical Project”. Journal of Systems and Software, 2020.</a:t>
            </a:r>
          </a:p>
          <a:p>
            <a:pPr marL="342900" indent="-342900" algn="just">
              <a:lnSpc>
                <a:spcPct val="130000"/>
              </a:lnSpc>
              <a:buFont typeface="+mj-lt"/>
              <a:buAutoNum type="arabicPeriod"/>
            </a:pPr>
            <a:r>
              <a:rPr lang="en-AU" altLang="zh-CN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Eeles, P., Cripps, P., &amp; Peters, K. (2009). The process of software architecting. Addison-Wesley Professional.</a:t>
            </a:r>
            <a:endParaRPr lang="en-US" altLang="zh-CN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  <a:p>
            <a:pPr algn="just">
              <a:lnSpc>
                <a:spcPct val="130000"/>
              </a:lnSpc>
            </a:pPr>
            <a:endParaRPr lang="en-US" altLang="zh-CN" sz="14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  <a:p>
            <a:pPr marL="342900" indent="-342900" algn="just">
              <a:lnSpc>
                <a:spcPct val="130000"/>
              </a:lnSpc>
              <a:buFont typeface="+mj-lt"/>
              <a:buAutoNum type="arabicPeriod"/>
            </a:pPr>
            <a:endParaRPr lang="en-US" sz="14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952358" y="382428"/>
            <a:ext cx="10151745" cy="5539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MiSans" pitchFamily="50" charset="-122"/>
                <a:ea typeface="MiSans" pitchFamily="50" charset="-122"/>
                <a:cs typeface="MiSans" pitchFamily="50" charset="-122"/>
              </a:rPr>
              <a:t>Литература</a:t>
            </a: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09:55-d1oe5stcmrb5eq9iqa00.jpg"/>
          <p:cNvPicPr>
            <a:picLocks noChangeAspect="1"/>
          </p:cNvPicPr>
          <p:nvPr/>
        </p:nvPicPr>
        <p:blipFill>
          <a:blip r:embed="rId3"/>
          <a:srcRect t="104" b="104"/>
          <a:stretch/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ru-RU" sz="5400" dirty="0">
                <a:solidFill>
                  <a:srgbClr val="000000"/>
                </a:solidFill>
                <a:latin typeface="MiSans" pitchFamily="50" charset="-122"/>
                <a:ea typeface="MiSans" pitchFamily="50" charset="-122"/>
                <a:cs typeface="MiSans" pitchFamily="50" charset="-122"/>
              </a:rPr>
              <a:t>Спасибо за внимание</a:t>
            </a:r>
            <a:r>
              <a:rPr lang="zh-CN" altLang="en-US" sz="5400" dirty="0">
                <a:solidFill>
                  <a:srgbClr val="000000"/>
                </a:solidFill>
                <a:latin typeface="MiSans" pitchFamily="50" charset="-122"/>
                <a:ea typeface="MiSans" pitchFamily="50" charset="-122"/>
                <a:cs typeface="MiSans" pitchFamily="50" charset="-122"/>
              </a:rPr>
              <a:t>！</a:t>
            </a: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200" dirty="0">
                <a:solidFill>
                  <a:srgbClr val="0439E1"/>
                </a:solidFill>
                <a:latin typeface="MiSans" pitchFamily="50" charset="-122"/>
                <a:ea typeface="MiSans" pitchFamily="50" charset="-122"/>
                <a:cs typeface="MiSans" pitchFamily="50" charset="-122"/>
              </a:rPr>
              <a:t>THANK YOU FOR WATCHING！</a:t>
            </a: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ru-RU" altLang="zh-CN" sz="1600" dirty="0">
                <a:solidFill>
                  <a:srgbClr val="000000"/>
                </a:solidFill>
                <a:latin typeface="MiSans" pitchFamily="50" charset="-122"/>
                <a:ea typeface="MiSans" pitchFamily="50" charset="-122"/>
                <a:cs typeface="MiSans" pitchFamily="50" charset="-122"/>
              </a:rPr>
              <a:t>Сюй Хаоюй</a:t>
            </a:r>
            <a:endParaRPr lang="en-US" altLang="zh-CN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240270" y="6099810"/>
            <a:ext cx="3091815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ru-RU" altLang="zh-CN" sz="1600" dirty="0">
                <a:solidFill>
                  <a:srgbClr val="000000"/>
                </a:solidFill>
                <a:latin typeface="MiSans" pitchFamily="50" charset="-122"/>
                <a:ea typeface="MiSans" pitchFamily="50" charset="-122"/>
                <a:cs typeface="MiSans" pitchFamily="50" charset="-122"/>
              </a:rPr>
              <a:t>ИУ5И-32М</a:t>
            </a:r>
            <a:endParaRPr lang="en-US" altLang="zh-CN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18" name="Shape 15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pic>
        <p:nvPicPr>
          <p:cNvPr id="19" name="Image 1" descr="https://test-kimi-img.moonshot.cn/pub/slides/slides_tmpl/image/25-07-11-18:09:52-d1oe5s5cmrb5eq9iq9l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984</Words>
  <Application>Microsoft Office PowerPoint</Application>
  <PresentationFormat>宽屏</PresentationFormat>
  <Paragraphs>136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等线 Light</vt:lpstr>
      <vt:lpstr>MiSans</vt:lpstr>
      <vt:lpstr>Noto Sans SC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皓禹 许</dc:creator>
  <cp:lastModifiedBy>皓禹 许</cp:lastModifiedBy>
  <cp:revision>15</cp:revision>
  <dcterms:created xsi:type="dcterms:W3CDTF">2025-12-01T11:24:53Z</dcterms:created>
  <dcterms:modified xsi:type="dcterms:W3CDTF">2025-12-01T16:39:08Z</dcterms:modified>
</cp:coreProperties>
</file>